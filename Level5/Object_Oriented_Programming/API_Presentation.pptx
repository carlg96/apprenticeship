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66" r:id="rId5"/>
    <p:sldId id="267" r:id="rId6"/>
    <p:sldId id="268" r:id="rId7"/>
    <p:sldId id="258" r:id="rId8"/>
    <p:sldId id="260" r:id="rId9"/>
    <p:sldId id="270" r:id="rId10"/>
    <p:sldId id="271" r:id="rId11"/>
    <p:sldId id="272" r:id="rId12"/>
    <p:sldId id="273" r:id="rId13"/>
    <p:sldId id="261" r:id="rId14"/>
    <p:sldId id="274" r:id="rId15"/>
    <p:sldId id="275" r:id="rId16"/>
    <p:sldId id="276" r:id="rId17"/>
    <p:sldId id="262" r:id="rId18"/>
    <p:sldId id="281" r:id="rId19"/>
    <p:sldId id="282" r:id="rId20"/>
    <p:sldId id="263" r:id="rId21"/>
    <p:sldId id="277" r:id="rId22"/>
    <p:sldId id="264" r:id="rId23"/>
    <p:sldId id="278" r:id="rId24"/>
    <p:sldId id="279" r:id="rId25"/>
    <p:sldId id="280" r:id="rId26"/>
    <p:sldId id="265" r:id="rId27"/>
    <p:sldId id="283" r:id="rId28"/>
    <p:sldId id="285" r:id="rId29"/>
    <p:sldId id="286" r:id="rId30"/>
    <p:sldId id="28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C36AB-EC9B-EAA0-19C2-32EAAF55AD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B35A303-3D50-C74A-CE2B-7901E5CD96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E19810A-8777-A3A4-2CB8-9C769FC20F06}"/>
              </a:ext>
            </a:extLst>
          </p:cNvPr>
          <p:cNvSpPr>
            <a:spLocks noGrp="1"/>
          </p:cNvSpPr>
          <p:nvPr>
            <p:ph type="dt" sz="half" idx="10"/>
          </p:nvPr>
        </p:nvSpPr>
        <p:spPr/>
        <p:txBody>
          <a:bodyPr/>
          <a:lstStyle/>
          <a:p>
            <a:fld id="{3EE8C525-B07E-4818-BA92-C03BADB09A1C}" type="datetimeFigureOut">
              <a:rPr lang="en-GB" smtClean="0"/>
              <a:t>20/05/2026</a:t>
            </a:fld>
            <a:endParaRPr lang="en-GB"/>
          </a:p>
        </p:txBody>
      </p:sp>
      <p:sp>
        <p:nvSpPr>
          <p:cNvPr id="5" name="Footer Placeholder 4">
            <a:extLst>
              <a:ext uri="{FF2B5EF4-FFF2-40B4-BE49-F238E27FC236}">
                <a16:creationId xmlns:a16="http://schemas.microsoft.com/office/drawing/2014/main" id="{B8994226-0942-86A5-BD17-FE97E2EFA4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751E5B-AA40-8791-1A0B-CF09C41D3AD8}"/>
              </a:ext>
            </a:extLst>
          </p:cNvPr>
          <p:cNvSpPr>
            <a:spLocks noGrp="1"/>
          </p:cNvSpPr>
          <p:nvPr>
            <p:ph type="sldNum" sz="quarter" idx="12"/>
          </p:nvPr>
        </p:nvSpPr>
        <p:spPr/>
        <p:txBody>
          <a:bodyPr/>
          <a:lstStyle/>
          <a:p>
            <a:fld id="{29ED4DE4-989D-44F2-BBFF-0F20793C0511}" type="slidenum">
              <a:rPr lang="en-GB" smtClean="0"/>
              <a:t>‹#›</a:t>
            </a:fld>
            <a:endParaRPr lang="en-GB"/>
          </a:p>
        </p:txBody>
      </p:sp>
    </p:spTree>
    <p:extLst>
      <p:ext uri="{BB962C8B-B14F-4D97-AF65-F5344CB8AC3E}">
        <p14:creationId xmlns:p14="http://schemas.microsoft.com/office/powerpoint/2010/main" val="3343016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3B69-1FF5-B8A1-37AB-B23087DDF8B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20AF288-9EF9-13C5-D177-7D7765EB9E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1BEAEF-A6A5-F195-89B1-0FFD152A6BAD}"/>
              </a:ext>
            </a:extLst>
          </p:cNvPr>
          <p:cNvSpPr>
            <a:spLocks noGrp="1"/>
          </p:cNvSpPr>
          <p:nvPr>
            <p:ph type="dt" sz="half" idx="10"/>
          </p:nvPr>
        </p:nvSpPr>
        <p:spPr/>
        <p:txBody>
          <a:bodyPr/>
          <a:lstStyle/>
          <a:p>
            <a:fld id="{3EE8C525-B07E-4818-BA92-C03BADB09A1C}" type="datetimeFigureOut">
              <a:rPr lang="en-GB" smtClean="0"/>
              <a:t>20/05/2026</a:t>
            </a:fld>
            <a:endParaRPr lang="en-GB"/>
          </a:p>
        </p:txBody>
      </p:sp>
      <p:sp>
        <p:nvSpPr>
          <p:cNvPr id="5" name="Footer Placeholder 4">
            <a:extLst>
              <a:ext uri="{FF2B5EF4-FFF2-40B4-BE49-F238E27FC236}">
                <a16:creationId xmlns:a16="http://schemas.microsoft.com/office/drawing/2014/main" id="{44BA1233-ED8E-F762-50F9-20D29347247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1831AA-708B-0470-57AE-AE0B198C78AE}"/>
              </a:ext>
            </a:extLst>
          </p:cNvPr>
          <p:cNvSpPr>
            <a:spLocks noGrp="1"/>
          </p:cNvSpPr>
          <p:nvPr>
            <p:ph type="sldNum" sz="quarter" idx="12"/>
          </p:nvPr>
        </p:nvSpPr>
        <p:spPr/>
        <p:txBody>
          <a:bodyPr/>
          <a:lstStyle/>
          <a:p>
            <a:fld id="{29ED4DE4-989D-44F2-BBFF-0F20793C0511}" type="slidenum">
              <a:rPr lang="en-GB" smtClean="0"/>
              <a:t>‹#›</a:t>
            </a:fld>
            <a:endParaRPr lang="en-GB"/>
          </a:p>
        </p:txBody>
      </p:sp>
    </p:spTree>
    <p:extLst>
      <p:ext uri="{BB962C8B-B14F-4D97-AF65-F5344CB8AC3E}">
        <p14:creationId xmlns:p14="http://schemas.microsoft.com/office/powerpoint/2010/main" val="2972991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EA3B8-C1CE-A4B8-981C-20319908F8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7D49784-1C14-2558-E67A-80CDDFD315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D39AF7-3715-C209-872A-FE65ABA1F98C}"/>
              </a:ext>
            </a:extLst>
          </p:cNvPr>
          <p:cNvSpPr>
            <a:spLocks noGrp="1"/>
          </p:cNvSpPr>
          <p:nvPr>
            <p:ph type="dt" sz="half" idx="10"/>
          </p:nvPr>
        </p:nvSpPr>
        <p:spPr/>
        <p:txBody>
          <a:bodyPr/>
          <a:lstStyle/>
          <a:p>
            <a:fld id="{3EE8C525-B07E-4818-BA92-C03BADB09A1C}" type="datetimeFigureOut">
              <a:rPr lang="en-GB" smtClean="0"/>
              <a:t>20/05/2026</a:t>
            </a:fld>
            <a:endParaRPr lang="en-GB"/>
          </a:p>
        </p:txBody>
      </p:sp>
      <p:sp>
        <p:nvSpPr>
          <p:cNvPr id="5" name="Footer Placeholder 4">
            <a:extLst>
              <a:ext uri="{FF2B5EF4-FFF2-40B4-BE49-F238E27FC236}">
                <a16:creationId xmlns:a16="http://schemas.microsoft.com/office/drawing/2014/main" id="{652B076C-1B75-53A8-31B7-866ACD958F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B633A64-8EE4-DF99-C91B-8E5883694265}"/>
              </a:ext>
            </a:extLst>
          </p:cNvPr>
          <p:cNvSpPr>
            <a:spLocks noGrp="1"/>
          </p:cNvSpPr>
          <p:nvPr>
            <p:ph type="sldNum" sz="quarter" idx="12"/>
          </p:nvPr>
        </p:nvSpPr>
        <p:spPr/>
        <p:txBody>
          <a:bodyPr/>
          <a:lstStyle/>
          <a:p>
            <a:fld id="{29ED4DE4-989D-44F2-BBFF-0F20793C0511}" type="slidenum">
              <a:rPr lang="en-GB" smtClean="0"/>
              <a:t>‹#›</a:t>
            </a:fld>
            <a:endParaRPr lang="en-GB"/>
          </a:p>
        </p:txBody>
      </p:sp>
    </p:spTree>
    <p:extLst>
      <p:ext uri="{BB962C8B-B14F-4D97-AF65-F5344CB8AC3E}">
        <p14:creationId xmlns:p14="http://schemas.microsoft.com/office/powerpoint/2010/main" val="4239586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C605C-B253-AD21-6754-0085F0D0FCE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F164A10-AD64-8980-549F-B765D49501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A6E80FE-CFFA-4AA3-89B6-62AC6DC99B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ECC21C3-E889-98C9-BB60-A6A02D601DA3}"/>
              </a:ext>
            </a:extLst>
          </p:cNvPr>
          <p:cNvSpPr>
            <a:spLocks noGrp="1"/>
          </p:cNvSpPr>
          <p:nvPr>
            <p:ph type="dt" sz="half" idx="10"/>
          </p:nvPr>
        </p:nvSpPr>
        <p:spPr/>
        <p:txBody>
          <a:bodyPr/>
          <a:lstStyle/>
          <a:p>
            <a:fld id="{3EE8C525-B07E-4818-BA92-C03BADB09A1C}" type="datetimeFigureOut">
              <a:rPr lang="en-GB" smtClean="0"/>
              <a:t>20/05/2026</a:t>
            </a:fld>
            <a:endParaRPr lang="en-GB"/>
          </a:p>
        </p:txBody>
      </p:sp>
      <p:sp>
        <p:nvSpPr>
          <p:cNvPr id="6" name="Footer Placeholder 5">
            <a:extLst>
              <a:ext uri="{FF2B5EF4-FFF2-40B4-BE49-F238E27FC236}">
                <a16:creationId xmlns:a16="http://schemas.microsoft.com/office/drawing/2014/main" id="{F68088A3-4E62-1901-A0F4-8244B30B42E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FA6AC8-8F47-6374-8826-77F47D7D504E}"/>
              </a:ext>
            </a:extLst>
          </p:cNvPr>
          <p:cNvSpPr>
            <a:spLocks noGrp="1"/>
          </p:cNvSpPr>
          <p:nvPr>
            <p:ph type="sldNum" sz="quarter" idx="12"/>
          </p:nvPr>
        </p:nvSpPr>
        <p:spPr/>
        <p:txBody>
          <a:bodyPr/>
          <a:lstStyle/>
          <a:p>
            <a:fld id="{29ED4DE4-989D-44F2-BBFF-0F20793C0511}" type="slidenum">
              <a:rPr lang="en-GB" smtClean="0"/>
              <a:t>‹#›</a:t>
            </a:fld>
            <a:endParaRPr lang="en-GB"/>
          </a:p>
        </p:txBody>
      </p:sp>
    </p:spTree>
    <p:extLst>
      <p:ext uri="{BB962C8B-B14F-4D97-AF65-F5344CB8AC3E}">
        <p14:creationId xmlns:p14="http://schemas.microsoft.com/office/powerpoint/2010/main" val="19714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C1E91-F5CB-7606-845D-EBBA03FB6D3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FD595B0-7E21-270C-69AE-BBB9A1BF5D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C11796-E22A-E047-6DA4-4C9FCD5991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F4AC122-98FD-442F-98D5-CAB71C13E5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88AD95-B202-56F8-26BD-48A6398CF0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2194D71-2924-A5D8-84FC-F5445D0B22B7}"/>
              </a:ext>
            </a:extLst>
          </p:cNvPr>
          <p:cNvSpPr>
            <a:spLocks noGrp="1"/>
          </p:cNvSpPr>
          <p:nvPr>
            <p:ph type="dt" sz="half" idx="10"/>
          </p:nvPr>
        </p:nvSpPr>
        <p:spPr/>
        <p:txBody>
          <a:bodyPr/>
          <a:lstStyle/>
          <a:p>
            <a:fld id="{3EE8C525-B07E-4818-BA92-C03BADB09A1C}" type="datetimeFigureOut">
              <a:rPr lang="en-GB" smtClean="0"/>
              <a:t>20/05/2026</a:t>
            </a:fld>
            <a:endParaRPr lang="en-GB"/>
          </a:p>
        </p:txBody>
      </p:sp>
      <p:sp>
        <p:nvSpPr>
          <p:cNvPr id="8" name="Footer Placeholder 7">
            <a:extLst>
              <a:ext uri="{FF2B5EF4-FFF2-40B4-BE49-F238E27FC236}">
                <a16:creationId xmlns:a16="http://schemas.microsoft.com/office/drawing/2014/main" id="{1340CE42-9B6A-7929-7A22-FEAF6A67149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1057739-B36A-52DC-1BEE-17B78301F03D}"/>
              </a:ext>
            </a:extLst>
          </p:cNvPr>
          <p:cNvSpPr>
            <a:spLocks noGrp="1"/>
          </p:cNvSpPr>
          <p:nvPr>
            <p:ph type="sldNum" sz="quarter" idx="12"/>
          </p:nvPr>
        </p:nvSpPr>
        <p:spPr/>
        <p:txBody>
          <a:bodyPr/>
          <a:lstStyle/>
          <a:p>
            <a:fld id="{29ED4DE4-989D-44F2-BBFF-0F20793C0511}" type="slidenum">
              <a:rPr lang="en-GB" smtClean="0"/>
              <a:t>‹#›</a:t>
            </a:fld>
            <a:endParaRPr lang="en-GB"/>
          </a:p>
        </p:txBody>
      </p:sp>
    </p:spTree>
    <p:extLst>
      <p:ext uri="{BB962C8B-B14F-4D97-AF65-F5344CB8AC3E}">
        <p14:creationId xmlns:p14="http://schemas.microsoft.com/office/powerpoint/2010/main" val="2222183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0787B-D7A3-3473-764C-05D09E31131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F21F8F2-9F49-CA43-B51C-F2B1B83C6325}"/>
              </a:ext>
            </a:extLst>
          </p:cNvPr>
          <p:cNvSpPr>
            <a:spLocks noGrp="1"/>
          </p:cNvSpPr>
          <p:nvPr>
            <p:ph type="dt" sz="half" idx="10"/>
          </p:nvPr>
        </p:nvSpPr>
        <p:spPr/>
        <p:txBody>
          <a:bodyPr/>
          <a:lstStyle/>
          <a:p>
            <a:fld id="{3EE8C525-B07E-4818-BA92-C03BADB09A1C}" type="datetimeFigureOut">
              <a:rPr lang="en-GB" smtClean="0"/>
              <a:t>20/05/2026</a:t>
            </a:fld>
            <a:endParaRPr lang="en-GB"/>
          </a:p>
        </p:txBody>
      </p:sp>
      <p:sp>
        <p:nvSpPr>
          <p:cNvPr id="4" name="Footer Placeholder 3">
            <a:extLst>
              <a:ext uri="{FF2B5EF4-FFF2-40B4-BE49-F238E27FC236}">
                <a16:creationId xmlns:a16="http://schemas.microsoft.com/office/drawing/2014/main" id="{FA2B2203-7D37-4B15-EA07-51FD000A34C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8244B25-42CE-8640-4851-137C86896255}"/>
              </a:ext>
            </a:extLst>
          </p:cNvPr>
          <p:cNvSpPr>
            <a:spLocks noGrp="1"/>
          </p:cNvSpPr>
          <p:nvPr>
            <p:ph type="sldNum" sz="quarter" idx="12"/>
          </p:nvPr>
        </p:nvSpPr>
        <p:spPr/>
        <p:txBody>
          <a:bodyPr/>
          <a:lstStyle/>
          <a:p>
            <a:fld id="{29ED4DE4-989D-44F2-BBFF-0F20793C0511}" type="slidenum">
              <a:rPr lang="en-GB" smtClean="0"/>
              <a:t>‹#›</a:t>
            </a:fld>
            <a:endParaRPr lang="en-GB"/>
          </a:p>
        </p:txBody>
      </p:sp>
    </p:spTree>
    <p:extLst>
      <p:ext uri="{BB962C8B-B14F-4D97-AF65-F5344CB8AC3E}">
        <p14:creationId xmlns:p14="http://schemas.microsoft.com/office/powerpoint/2010/main" val="3643190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392019-8049-61C0-1FCA-C59BFCFAAA59}"/>
              </a:ext>
            </a:extLst>
          </p:cNvPr>
          <p:cNvSpPr>
            <a:spLocks noGrp="1"/>
          </p:cNvSpPr>
          <p:nvPr>
            <p:ph type="dt" sz="half" idx="10"/>
          </p:nvPr>
        </p:nvSpPr>
        <p:spPr/>
        <p:txBody>
          <a:bodyPr/>
          <a:lstStyle/>
          <a:p>
            <a:fld id="{3EE8C525-B07E-4818-BA92-C03BADB09A1C}" type="datetimeFigureOut">
              <a:rPr lang="en-GB" smtClean="0"/>
              <a:t>20/05/2026</a:t>
            </a:fld>
            <a:endParaRPr lang="en-GB"/>
          </a:p>
        </p:txBody>
      </p:sp>
      <p:sp>
        <p:nvSpPr>
          <p:cNvPr id="3" name="Footer Placeholder 2">
            <a:extLst>
              <a:ext uri="{FF2B5EF4-FFF2-40B4-BE49-F238E27FC236}">
                <a16:creationId xmlns:a16="http://schemas.microsoft.com/office/drawing/2014/main" id="{840FF9DF-11BD-EC41-092A-8AC38D7E0A0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FF7BCA8-DDDC-24B6-2E6F-BED276BF32BF}"/>
              </a:ext>
            </a:extLst>
          </p:cNvPr>
          <p:cNvSpPr>
            <a:spLocks noGrp="1"/>
          </p:cNvSpPr>
          <p:nvPr>
            <p:ph type="sldNum" sz="quarter" idx="12"/>
          </p:nvPr>
        </p:nvSpPr>
        <p:spPr/>
        <p:txBody>
          <a:bodyPr/>
          <a:lstStyle/>
          <a:p>
            <a:fld id="{29ED4DE4-989D-44F2-BBFF-0F20793C0511}" type="slidenum">
              <a:rPr lang="en-GB" smtClean="0"/>
              <a:t>‹#›</a:t>
            </a:fld>
            <a:endParaRPr lang="en-GB"/>
          </a:p>
        </p:txBody>
      </p:sp>
    </p:spTree>
    <p:extLst>
      <p:ext uri="{BB962C8B-B14F-4D97-AF65-F5344CB8AC3E}">
        <p14:creationId xmlns:p14="http://schemas.microsoft.com/office/powerpoint/2010/main" val="2072813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54881-47A7-C109-4532-EBBFB9A715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A5481A8-DC2D-BD26-ECEC-5EA571C2FF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71473EF-A166-3E3F-A0D8-27314A0A1A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311E0-C297-2D2D-729D-577334ADBAEF}"/>
              </a:ext>
            </a:extLst>
          </p:cNvPr>
          <p:cNvSpPr>
            <a:spLocks noGrp="1"/>
          </p:cNvSpPr>
          <p:nvPr>
            <p:ph type="dt" sz="half" idx="10"/>
          </p:nvPr>
        </p:nvSpPr>
        <p:spPr/>
        <p:txBody>
          <a:bodyPr/>
          <a:lstStyle/>
          <a:p>
            <a:fld id="{3EE8C525-B07E-4818-BA92-C03BADB09A1C}" type="datetimeFigureOut">
              <a:rPr lang="en-GB" smtClean="0"/>
              <a:t>20/05/2026</a:t>
            </a:fld>
            <a:endParaRPr lang="en-GB"/>
          </a:p>
        </p:txBody>
      </p:sp>
      <p:sp>
        <p:nvSpPr>
          <p:cNvPr id="6" name="Footer Placeholder 5">
            <a:extLst>
              <a:ext uri="{FF2B5EF4-FFF2-40B4-BE49-F238E27FC236}">
                <a16:creationId xmlns:a16="http://schemas.microsoft.com/office/drawing/2014/main" id="{43B1D57D-43F6-B44C-CF5F-BF23487C919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6E3C804-088A-D99E-90C1-46FC87B0D7A9}"/>
              </a:ext>
            </a:extLst>
          </p:cNvPr>
          <p:cNvSpPr>
            <a:spLocks noGrp="1"/>
          </p:cNvSpPr>
          <p:nvPr>
            <p:ph type="sldNum" sz="quarter" idx="12"/>
          </p:nvPr>
        </p:nvSpPr>
        <p:spPr/>
        <p:txBody>
          <a:bodyPr/>
          <a:lstStyle/>
          <a:p>
            <a:fld id="{29ED4DE4-989D-44F2-BBFF-0F20793C0511}" type="slidenum">
              <a:rPr lang="en-GB" smtClean="0"/>
              <a:t>‹#›</a:t>
            </a:fld>
            <a:endParaRPr lang="en-GB"/>
          </a:p>
        </p:txBody>
      </p:sp>
    </p:spTree>
    <p:extLst>
      <p:ext uri="{BB962C8B-B14F-4D97-AF65-F5344CB8AC3E}">
        <p14:creationId xmlns:p14="http://schemas.microsoft.com/office/powerpoint/2010/main" val="2980416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E7C57-2E38-C02E-0C84-A1EA041CD5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25E4757-2466-2F9C-25C9-06BB881E13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6117F1A-A045-1B98-128A-271C7416B1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E96828-A8E2-C154-640D-1B40035ED0AC}"/>
              </a:ext>
            </a:extLst>
          </p:cNvPr>
          <p:cNvSpPr>
            <a:spLocks noGrp="1"/>
          </p:cNvSpPr>
          <p:nvPr>
            <p:ph type="dt" sz="half" idx="10"/>
          </p:nvPr>
        </p:nvSpPr>
        <p:spPr/>
        <p:txBody>
          <a:bodyPr/>
          <a:lstStyle/>
          <a:p>
            <a:fld id="{3EE8C525-B07E-4818-BA92-C03BADB09A1C}" type="datetimeFigureOut">
              <a:rPr lang="en-GB" smtClean="0"/>
              <a:t>20/05/2026</a:t>
            </a:fld>
            <a:endParaRPr lang="en-GB"/>
          </a:p>
        </p:txBody>
      </p:sp>
      <p:sp>
        <p:nvSpPr>
          <p:cNvPr id="6" name="Footer Placeholder 5">
            <a:extLst>
              <a:ext uri="{FF2B5EF4-FFF2-40B4-BE49-F238E27FC236}">
                <a16:creationId xmlns:a16="http://schemas.microsoft.com/office/drawing/2014/main" id="{555B8494-9DA5-3978-2585-34E6AB1F1FA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A528638-D56F-986D-0E7D-E055EC6D1A69}"/>
              </a:ext>
            </a:extLst>
          </p:cNvPr>
          <p:cNvSpPr>
            <a:spLocks noGrp="1"/>
          </p:cNvSpPr>
          <p:nvPr>
            <p:ph type="sldNum" sz="quarter" idx="12"/>
          </p:nvPr>
        </p:nvSpPr>
        <p:spPr/>
        <p:txBody>
          <a:bodyPr/>
          <a:lstStyle/>
          <a:p>
            <a:fld id="{29ED4DE4-989D-44F2-BBFF-0F20793C0511}" type="slidenum">
              <a:rPr lang="en-GB" smtClean="0"/>
              <a:t>‹#›</a:t>
            </a:fld>
            <a:endParaRPr lang="en-GB"/>
          </a:p>
        </p:txBody>
      </p:sp>
    </p:spTree>
    <p:extLst>
      <p:ext uri="{BB962C8B-B14F-4D97-AF65-F5344CB8AC3E}">
        <p14:creationId xmlns:p14="http://schemas.microsoft.com/office/powerpoint/2010/main" val="798553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7C461-CBB1-E588-1CCA-FB2ED7F2E61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274DB19-6EF0-94AF-5742-C0CC13AF22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0E9839-0DB2-1B96-EF2D-2383F7B0E75D}"/>
              </a:ext>
            </a:extLst>
          </p:cNvPr>
          <p:cNvSpPr>
            <a:spLocks noGrp="1"/>
          </p:cNvSpPr>
          <p:nvPr>
            <p:ph type="dt" sz="half" idx="10"/>
          </p:nvPr>
        </p:nvSpPr>
        <p:spPr/>
        <p:txBody>
          <a:bodyPr/>
          <a:lstStyle/>
          <a:p>
            <a:fld id="{3EE8C525-B07E-4818-BA92-C03BADB09A1C}" type="datetimeFigureOut">
              <a:rPr lang="en-GB" smtClean="0"/>
              <a:t>20/05/2026</a:t>
            </a:fld>
            <a:endParaRPr lang="en-GB"/>
          </a:p>
        </p:txBody>
      </p:sp>
      <p:sp>
        <p:nvSpPr>
          <p:cNvPr id="5" name="Footer Placeholder 4">
            <a:extLst>
              <a:ext uri="{FF2B5EF4-FFF2-40B4-BE49-F238E27FC236}">
                <a16:creationId xmlns:a16="http://schemas.microsoft.com/office/drawing/2014/main" id="{2551B9B0-5CB2-FBBE-94AE-3C680279C4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093769-A3B2-E795-2A31-503B8D433CDC}"/>
              </a:ext>
            </a:extLst>
          </p:cNvPr>
          <p:cNvSpPr>
            <a:spLocks noGrp="1"/>
          </p:cNvSpPr>
          <p:nvPr>
            <p:ph type="sldNum" sz="quarter" idx="12"/>
          </p:nvPr>
        </p:nvSpPr>
        <p:spPr/>
        <p:txBody>
          <a:bodyPr/>
          <a:lstStyle/>
          <a:p>
            <a:fld id="{29ED4DE4-989D-44F2-BBFF-0F20793C0511}" type="slidenum">
              <a:rPr lang="en-GB" smtClean="0"/>
              <a:t>‹#›</a:t>
            </a:fld>
            <a:endParaRPr lang="en-GB"/>
          </a:p>
        </p:txBody>
      </p:sp>
    </p:spTree>
    <p:extLst>
      <p:ext uri="{BB962C8B-B14F-4D97-AF65-F5344CB8AC3E}">
        <p14:creationId xmlns:p14="http://schemas.microsoft.com/office/powerpoint/2010/main" val="2623614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E4A0B8-5E72-8333-661C-FED0D0ADE6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E289B68-A8BB-9F39-3426-AABB50CB08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22E346-CC05-FC29-FAF3-98A8BF68AB45}"/>
              </a:ext>
            </a:extLst>
          </p:cNvPr>
          <p:cNvSpPr>
            <a:spLocks noGrp="1"/>
          </p:cNvSpPr>
          <p:nvPr>
            <p:ph type="dt" sz="half" idx="10"/>
          </p:nvPr>
        </p:nvSpPr>
        <p:spPr/>
        <p:txBody>
          <a:bodyPr/>
          <a:lstStyle/>
          <a:p>
            <a:fld id="{3EE8C525-B07E-4818-BA92-C03BADB09A1C}" type="datetimeFigureOut">
              <a:rPr lang="en-GB" smtClean="0"/>
              <a:t>20/05/2026</a:t>
            </a:fld>
            <a:endParaRPr lang="en-GB"/>
          </a:p>
        </p:txBody>
      </p:sp>
      <p:sp>
        <p:nvSpPr>
          <p:cNvPr id="5" name="Footer Placeholder 4">
            <a:extLst>
              <a:ext uri="{FF2B5EF4-FFF2-40B4-BE49-F238E27FC236}">
                <a16:creationId xmlns:a16="http://schemas.microsoft.com/office/drawing/2014/main" id="{935C88F8-583B-2412-6D40-A2858E93F2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43A73DB-D3CF-5334-D0EC-FCAF664670EE}"/>
              </a:ext>
            </a:extLst>
          </p:cNvPr>
          <p:cNvSpPr>
            <a:spLocks noGrp="1"/>
          </p:cNvSpPr>
          <p:nvPr>
            <p:ph type="sldNum" sz="quarter" idx="12"/>
          </p:nvPr>
        </p:nvSpPr>
        <p:spPr/>
        <p:txBody>
          <a:bodyPr/>
          <a:lstStyle/>
          <a:p>
            <a:fld id="{29ED4DE4-989D-44F2-BBFF-0F20793C0511}" type="slidenum">
              <a:rPr lang="en-GB" smtClean="0"/>
              <a:t>‹#›</a:t>
            </a:fld>
            <a:endParaRPr lang="en-GB"/>
          </a:p>
        </p:txBody>
      </p:sp>
    </p:spTree>
    <p:extLst>
      <p:ext uri="{BB962C8B-B14F-4D97-AF65-F5344CB8AC3E}">
        <p14:creationId xmlns:p14="http://schemas.microsoft.com/office/powerpoint/2010/main" val="2366721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576B11-71B2-8C9E-1FB8-7AEDF1318D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E6BD8C5-A193-1E87-3823-409A978E4C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19195FA-BC64-2A61-771E-7A12471477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E8C525-B07E-4818-BA92-C03BADB09A1C}" type="datetimeFigureOut">
              <a:rPr lang="en-GB" smtClean="0"/>
              <a:t>20/05/2026</a:t>
            </a:fld>
            <a:endParaRPr lang="en-GB"/>
          </a:p>
        </p:txBody>
      </p:sp>
      <p:sp>
        <p:nvSpPr>
          <p:cNvPr id="5" name="Footer Placeholder 4">
            <a:extLst>
              <a:ext uri="{FF2B5EF4-FFF2-40B4-BE49-F238E27FC236}">
                <a16:creationId xmlns:a16="http://schemas.microsoft.com/office/drawing/2014/main" id="{EE9132D7-9C5B-3BC0-2E6D-8D105BA619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513217B-8F53-CDB3-084E-CD323F2256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ED4DE4-989D-44F2-BBFF-0F20793C0511}" type="slidenum">
              <a:rPr lang="en-GB" smtClean="0"/>
              <a:t>‹#›</a:t>
            </a:fld>
            <a:endParaRPr lang="en-GB"/>
          </a:p>
        </p:txBody>
      </p:sp>
    </p:spTree>
    <p:extLst>
      <p:ext uri="{BB962C8B-B14F-4D97-AF65-F5344CB8AC3E}">
        <p14:creationId xmlns:p14="http://schemas.microsoft.com/office/powerpoint/2010/main" val="3930281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93713-E68B-CCC3-3B08-0FC367046728}"/>
              </a:ext>
            </a:extLst>
          </p:cNvPr>
          <p:cNvSpPr>
            <a:spLocks noGrp="1"/>
          </p:cNvSpPr>
          <p:nvPr>
            <p:ph type="ctrTitle"/>
          </p:nvPr>
        </p:nvSpPr>
        <p:spPr/>
        <p:txBody>
          <a:bodyPr/>
          <a:lstStyle/>
          <a:p>
            <a:r>
              <a:rPr lang="en-GB" dirty="0"/>
              <a:t>Leave Booking System API</a:t>
            </a:r>
          </a:p>
        </p:txBody>
      </p:sp>
      <p:sp>
        <p:nvSpPr>
          <p:cNvPr id="3" name="Subtitle 2">
            <a:extLst>
              <a:ext uri="{FF2B5EF4-FFF2-40B4-BE49-F238E27FC236}">
                <a16:creationId xmlns:a16="http://schemas.microsoft.com/office/drawing/2014/main" id="{BBEE9EEB-1D1F-127C-1740-75BAEEFD63F8}"/>
              </a:ext>
            </a:extLst>
          </p:cNvPr>
          <p:cNvSpPr>
            <a:spLocks noGrp="1"/>
          </p:cNvSpPr>
          <p:nvPr>
            <p:ph type="subTitle" idx="1"/>
          </p:nvPr>
        </p:nvSpPr>
        <p:spPr/>
        <p:txBody>
          <a:bodyPr/>
          <a:lstStyle/>
          <a:p>
            <a:r>
              <a:rPr lang="en-GB" dirty="0"/>
              <a:t>By Carl Gardiner</a:t>
            </a:r>
          </a:p>
        </p:txBody>
      </p:sp>
    </p:spTree>
    <p:extLst>
      <p:ext uri="{BB962C8B-B14F-4D97-AF65-F5344CB8AC3E}">
        <p14:creationId xmlns:p14="http://schemas.microsoft.com/office/powerpoint/2010/main" val="138870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DBC8-911F-042C-5085-7187A19CF92D}"/>
              </a:ext>
            </a:extLst>
          </p:cNvPr>
          <p:cNvSpPr>
            <a:spLocks noGrp="1"/>
          </p:cNvSpPr>
          <p:nvPr>
            <p:ph type="title"/>
          </p:nvPr>
        </p:nvSpPr>
        <p:spPr/>
        <p:txBody>
          <a:bodyPr/>
          <a:lstStyle/>
          <a:p>
            <a:pPr algn="ctr"/>
            <a:r>
              <a:rPr lang="en-GB" dirty="0"/>
              <a:t>High-level Architecture</a:t>
            </a:r>
          </a:p>
        </p:txBody>
      </p:sp>
      <p:pic>
        <p:nvPicPr>
          <p:cNvPr id="4" name="Content Placeholder 3">
            <a:extLst>
              <a:ext uri="{FF2B5EF4-FFF2-40B4-BE49-F238E27FC236}">
                <a16:creationId xmlns:a16="http://schemas.microsoft.com/office/drawing/2014/main" id="{1677027A-2DF7-E95B-16AE-72FAF011FF6B}"/>
              </a:ext>
            </a:extLst>
          </p:cNvPr>
          <p:cNvPicPr>
            <a:picLocks noGrp="1" noChangeAspect="1"/>
          </p:cNvPicPr>
          <p:nvPr>
            <p:ph idx="1"/>
          </p:nvPr>
        </p:nvPicPr>
        <p:blipFill>
          <a:blip r:embed="rId2"/>
          <a:stretch>
            <a:fillRect/>
          </a:stretch>
        </p:blipFill>
        <p:spPr>
          <a:xfrm>
            <a:off x="3727061" y="1825625"/>
            <a:ext cx="4737878" cy="4351338"/>
          </a:xfrm>
          <a:prstGeom prst="rect">
            <a:avLst/>
          </a:prstGeom>
        </p:spPr>
      </p:pic>
    </p:spTree>
    <p:extLst>
      <p:ext uri="{BB962C8B-B14F-4D97-AF65-F5344CB8AC3E}">
        <p14:creationId xmlns:p14="http://schemas.microsoft.com/office/powerpoint/2010/main" val="3227074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E9E14-CA0F-B028-2962-A13891CB163F}"/>
              </a:ext>
            </a:extLst>
          </p:cNvPr>
          <p:cNvSpPr>
            <a:spLocks noGrp="1"/>
          </p:cNvSpPr>
          <p:nvPr>
            <p:ph type="title"/>
          </p:nvPr>
        </p:nvSpPr>
        <p:spPr/>
        <p:txBody>
          <a:bodyPr/>
          <a:lstStyle/>
          <a:p>
            <a:pPr algn="ctr"/>
            <a:r>
              <a:rPr lang="en-GB" dirty="0"/>
              <a:t>Security Requirements</a:t>
            </a:r>
          </a:p>
        </p:txBody>
      </p:sp>
      <p:sp>
        <p:nvSpPr>
          <p:cNvPr id="3" name="Content Placeholder 2">
            <a:extLst>
              <a:ext uri="{FF2B5EF4-FFF2-40B4-BE49-F238E27FC236}">
                <a16:creationId xmlns:a16="http://schemas.microsoft.com/office/drawing/2014/main" id="{39267EAF-4610-37E7-4A27-E899B9334890}"/>
              </a:ext>
            </a:extLst>
          </p:cNvPr>
          <p:cNvSpPr>
            <a:spLocks noGrp="1"/>
          </p:cNvSpPr>
          <p:nvPr>
            <p:ph idx="1"/>
          </p:nvPr>
        </p:nvSpPr>
        <p:spPr/>
        <p:txBody>
          <a:bodyPr>
            <a:normAutofit fontScale="92500"/>
          </a:bodyPr>
          <a:lstStyle/>
          <a:p>
            <a:r>
              <a:rPr lang="en-GB" dirty="0"/>
              <a:t>1.Users will have to log in to view any API end points (i.e. all end points other than to login require authentication and authorisation by role) </a:t>
            </a:r>
          </a:p>
          <a:p>
            <a:r>
              <a:rPr lang="en-GB" dirty="0"/>
              <a:t>2. JWT tokens will be used for authentication. </a:t>
            </a:r>
          </a:p>
          <a:p>
            <a:r>
              <a:rPr lang="en-GB" dirty="0"/>
              <a:t>3. Requests will check the role of the user to establish if they are authorised to view a particular end point – a log should be kept of unauthorised access to end points </a:t>
            </a:r>
          </a:p>
          <a:p>
            <a:r>
              <a:rPr lang="en-GB" dirty="0"/>
              <a:t>4. The system will limit the number of requests from a specific end point </a:t>
            </a:r>
          </a:p>
          <a:p>
            <a:r>
              <a:rPr lang="en-GB" dirty="0"/>
              <a:t>5. The system will adjust its HTTP headers so that the server version is obfuscated </a:t>
            </a:r>
          </a:p>
        </p:txBody>
      </p:sp>
    </p:spTree>
    <p:extLst>
      <p:ext uri="{BB962C8B-B14F-4D97-AF65-F5344CB8AC3E}">
        <p14:creationId xmlns:p14="http://schemas.microsoft.com/office/powerpoint/2010/main" val="214075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BAF8F-7BAA-BB3D-504F-6641C89CF7D9}"/>
              </a:ext>
            </a:extLst>
          </p:cNvPr>
          <p:cNvSpPr>
            <a:spLocks noGrp="1"/>
          </p:cNvSpPr>
          <p:nvPr>
            <p:ph type="title"/>
          </p:nvPr>
        </p:nvSpPr>
        <p:spPr/>
        <p:txBody>
          <a:bodyPr/>
          <a:lstStyle/>
          <a:p>
            <a:pPr algn="ctr"/>
            <a:r>
              <a:rPr lang="en-GB" dirty="0"/>
              <a:t>Staff Requirements</a:t>
            </a:r>
          </a:p>
        </p:txBody>
      </p:sp>
      <p:sp>
        <p:nvSpPr>
          <p:cNvPr id="3" name="Content Placeholder 2">
            <a:extLst>
              <a:ext uri="{FF2B5EF4-FFF2-40B4-BE49-F238E27FC236}">
                <a16:creationId xmlns:a16="http://schemas.microsoft.com/office/drawing/2014/main" id="{7ADAB800-2406-EA68-7777-AC76103C5A48}"/>
              </a:ext>
            </a:extLst>
          </p:cNvPr>
          <p:cNvSpPr>
            <a:spLocks noGrp="1"/>
          </p:cNvSpPr>
          <p:nvPr>
            <p:ph idx="1"/>
          </p:nvPr>
        </p:nvSpPr>
        <p:spPr/>
        <p:txBody>
          <a:bodyPr/>
          <a:lstStyle/>
          <a:p>
            <a:r>
              <a:rPr lang="en-GB" dirty="0"/>
              <a:t>1. Request leave </a:t>
            </a:r>
          </a:p>
          <a:p>
            <a:r>
              <a:rPr lang="en-GB" dirty="0"/>
              <a:t>2. Cancel a leave request </a:t>
            </a:r>
          </a:p>
          <a:p>
            <a:r>
              <a:rPr lang="en-GB" dirty="0"/>
              <a:t>3. View the status of their leave requests – show all requests for a staff member including the status of those requests (Pending, Approved, Rejected) </a:t>
            </a:r>
          </a:p>
          <a:p>
            <a:r>
              <a:rPr lang="en-GB" dirty="0"/>
              <a:t>4. View their remaining annual leave and/or days used</a:t>
            </a:r>
          </a:p>
        </p:txBody>
      </p:sp>
    </p:spTree>
    <p:extLst>
      <p:ext uri="{BB962C8B-B14F-4D97-AF65-F5344CB8AC3E}">
        <p14:creationId xmlns:p14="http://schemas.microsoft.com/office/powerpoint/2010/main" val="1527404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A30BB-BD75-755F-0C4E-1370F169ECD0}"/>
              </a:ext>
            </a:extLst>
          </p:cNvPr>
          <p:cNvSpPr>
            <a:spLocks noGrp="1"/>
          </p:cNvSpPr>
          <p:nvPr>
            <p:ph type="title"/>
          </p:nvPr>
        </p:nvSpPr>
        <p:spPr/>
        <p:txBody>
          <a:bodyPr/>
          <a:lstStyle/>
          <a:p>
            <a:pPr algn="ctr"/>
            <a:r>
              <a:rPr lang="en-GB" dirty="0"/>
              <a:t>Manager Requirements</a:t>
            </a:r>
          </a:p>
        </p:txBody>
      </p:sp>
      <p:sp>
        <p:nvSpPr>
          <p:cNvPr id="3" name="Content Placeholder 2">
            <a:extLst>
              <a:ext uri="{FF2B5EF4-FFF2-40B4-BE49-F238E27FC236}">
                <a16:creationId xmlns:a16="http://schemas.microsoft.com/office/drawing/2014/main" id="{5C6BCCF1-87E8-3A0B-B37A-3A86D8E7A5B8}"/>
              </a:ext>
            </a:extLst>
          </p:cNvPr>
          <p:cNvSpPr>
            <a:spLocks noGrp="1"/>
          </p:cNvSpPr>
          <p:nvPr>
            <p:ph idx="1"/>
          </p:nvPr>
        </p:nvSpPr>
        <p:spPr/>
        <p:txBody>
          <a:bodyPr/>
          <a:lstStyle/>
          <a:p>
            <a:r>
              <a:rPr lang="en-GB" dirty="0"/>
              <a:t>1.View outstanding requests for annual leave for their assigned members of staff </a:t>
            </a:r>
          </a:p>
          <a:p>
            <a:r>
              <a:rPr lang="en-GB" dirty="0"/>
              <a:t>2. Approve a request for annual leave </a:t>
            </a:r>
          </a:p>
          <a:p>
            <a:r>
              <a:rPr lang="en-GB" dirty="0"/>
              <a:t>3. Reject a request for annual leave </a:t>
            </a:r>
          </a:p>
          <a:p>
            <a:r>
              <a:rPr lang="en-GB" dirty="0"/>
              <a:t>4. View the amount of annual leave remaining for a member of staff</a:t>
            </a:r>
          </a:p>
        </p:txBody>
      </p:sp>
    </p:spTree>
    <p:extLst>
      <p:ext uri="{BB962C8B-B14F-4D97-AF65-F5344CB8AC3E}">
        <p14:creationId xmlns:p14="http://schemas.microsoft.com/office/powerpoint/2010/main" val="3295672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EA9C4-D9CC-3D54-FB48-F7F1C54C5212}"/>
              </a:ext>
            </a:extLst>
          </p:cNvPr>
          <p:cNvSpPr>
            <a:spLocks noGrp="1"/>
          </p:cNvSpPr>
          <p:nvPr>
            <p:ph type="title"/>
          </p:nvPr>
        </p:nvSpPr>
        <p:spPr/>
        <p:txBody>
          <a:bodyPr/>
          <a:lstStyle/>
          <a:p>
            <a:pPr algn="ctr"/>
            <a:r>
              <a:rPr lang="en-GB" dirty="0"/>
              <a:t>Admin Requirements</a:t>
            </a:r>
          </a:p>
        </p:txBody>
      </p:sp>
      <p:sp>
        <p:nvSpPr>
          <p:cNvPr id="3" name="Content Placeholder 2">
            <a:extLst>
              <a:ext uri="{FF2B5EF4-FFF2-40B4-BE49-F238E27FC236}">
                <a16:creationId xmlns:a16="http://schemas.microsoft.com/office/drawing/2014/main" id="{4BDCBD5C-829E-D5D5-2452-1DA69E24B5F7}"/>
              </a:ext>
            </a:extLst>
          </p:cNvPr>
          <p:cNvSpPr>
            <a:spLocks noGrp="1"/>
          </p:cNvSpPr>
          <p:nvPr>
            <p:ph idx="1"/>
          </p:nvPr>
        </p:nvSpPr>
        <p:spPr/>
        <p:txBody>
          <a:bodyPr/>
          <a:lstStyle/>
          <a:p>
            <a:r>
              <a:rPr lang="en-GB" dirty="0"/>
              <a:t>1.Add a new member of staff </a:t>
            </a:r>
          </a:p>
          <a:p>
            <a:r>
              <a:rPr lang="en-GB" dirty="0"/>
              <a:t>2. Amend the role or department of a member of staff </a:t>
            </a:r>
          </a:p>
          <a:p>
            <a:r>
              <a:rPr lang="en-GB" dirty="0"/>
              <a:t>3. View all outstanding leave requests filtered by staff member, manager’s team or across the company </a:t>
            </a:r>
          </a:p>
          <a:p>
            <a:r>
              <a:rPr lang="en-GB" dirty="0"/>
              <a:t>4. Amend the amount of annual leave assigned to a member of staff </a:t>
            </a:r>
          </a:p>
          <a:p>
            <a:r>
              <a:rPr lang="en-GB" dirty="0"/>
              <a:t>5. Approve requests on behalf of managers and track system-wide usage.</a:t>
            </a:r>
          </a:p>
        </p:txBody>
      </p:sp>
    </p:spTree>
    <p:extLst>
      <p:ext uri="{BB962C8B-B14F-4D97-AF65-F5344CB8AC3E}">
        <p14:creationId xmlns:p14="http://schemas.microsoft.com/office/powerpoint/2010/main" val="1445940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517DE-318C-6DBA-A382-04BEA960C8A8}"/>
              </a:ext>
            </a:extLst>
          </p:cNvPr>
          <p:cNvSpPr>
            <a:spLocks noGrp="1"/>
          </p:cNvSpPr>
          <p:nvPr>
            <p:ph type="title"/>
          </p:nvPr>
        </p:nvSpPr>
        <p:spPr/>
        <p:txBody>
          <a:bodyPr/>
          <a:lstStyle/>
          <a:p>
            <a:pPr algn="ctr"/>
            <a:r>
              <a:rPr lang="en-GB" dirty="0"/>
              <a:t>Design Patterns Used</a:t>
            </a:r>
          </a:p>
        </p:txBody>
      </p:sp>
      <p:sp>
        <p:nvSpPr>
          <p:cNvPr id="3" name="Content Placeholder 2">
            <a:extLst>
              <a:ext uri="{FF2B5EF4-FFF2-40B4-BE49-F238E27FC236}">
                <a16:creationId xmlns:a16="http://schemas.microsoft.com/office/drawing/2014/main" id="{E4F32BB3-5D98-EB28-6E10-897D1B645105}"/>
              </a:ext>
            </a:extLst>
          </p:cNvPr>
          <p:cNvSpPr>
            <a:spLocks noGrp="1"/>
          </p:cNvSpPr>
          <p:nvPr>
            <p:ph idx="1"/>
          </p:nvPr>
        </p:nvSpPr>
        <p:spPr/>
        <p:txBody>
          <a:bodyPr/>
          <a:lstStyle/>
          <a:p>
            <a:r>
              <a:rPr lang="en-GB" dirty="0"/>
              <a:t>The following design patterns were used for the Leave Booking System API:</a:t>
            </a:r>
          </a:p>
          <a:p>
            <a:r>
              <a:rPr lang="en-GB" dirty="0"/>
              <a:t>State</a:t>
            </a:r>
          </a:p>
          <a:p>
            <a:r>
              <a:rPr lang="en-GB" dirty="0"/>
              <a:t>Factory</a:t>
            </a:r>
          </a:p>
          <a:p>
            <a:r>
              <a:rPr lang="en-GB" dirty="0"/>
              <a:t>Dependency Injection</a:t>
            </a:r>
          </a:p>
          <a:p>
            <a:r>
              <a:rPr lang="en-GB" dirty="0"/>
              <a:t>Chain of Responsibility</a:t>
            </a:r>
          </a:p>
          <a:p>
            <a:r>
              <a:rPr lang="en-GB" dirty="0"/>
              <a:t>Strategy</a:t>
            </a:r>
          </a:p>
        </p:txBody>
      </p:sp>
    </p:spTree>
    <p:extLst>
      <p:ext uri="{BB962C8B-B14F-4D97-AF65-F5344CB8AC3E}">
        <p14:creationId xmlns:p14="http://schemas.microsoft.com/office/powerpoint/2010/main" val="3815515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6BB92-5590-FB4D-CAC5-3892E9287E36}"/>
              </a:ext>
            </a:extLst>
          </p:cNvPr>
          <p:cNvSpPr>
            <a:spLocks noGrp="1"/>
          </p:cNvSpPr>
          <p:nvPr>
            <p:ph type="title"/>
          </p:nvPr>
        </p:nvSpPr>
        <p:spPr/>
        <p:txBody>
          <a:bodyPr/>
          <a:lstStyle/>
          <a:p>
            <a:pPr algn="ctr"/>
            <a:r>
              <a:rPr lang="en-GB" dirty="0"/>
              <a:t>State Pattern</a:t>
            </a:r>
          </a:p>
        </p:txBody>
      </p:sp>
      <p:sp>
        <p:nvSpPr>
          <p:cNvPr id="3" name="Content Placeholder 2">
            <a:extLst>
              <a:ext uri="{FF2B5EF4-FFF2-40B4-BE49-F238E27FC236}">
                <a16:creationId xmlns:a16="http://schemas.microsoft.com/office/drawing/2014/main" id="{289CA382-BB72-0684-FEAC-0640CAF42065}"/>
              </a:ext>
            </a:extLst>
          </p:cNvPr>
          <p:cNvSpPr>
            <a:spLocks noGrp="1"/>
          </p:cNvSpPr>
          <p:nvPr>
            <p:ph idx="1"/>
          </p:nvPr>
        </p:nvSpPr>
        <p:spPr/>
        <p:txBody>
          <a:bodyPr/>
          <a:lstStyle/>
          <a:p>
            <a:r>
              <a:rPr lang="en-GB" dirty="0"/>
              <a:t>Allow an object to alter its behaviour when its internal state changes. The object will appear to change its class.</a:t>
            </a:r>
          </a:p>
          <a:p>
            <a:r>
              <a:rPr lang="en-GB" dirty="0"/>
              <a:t>This means that instead of conditional logic, polymorphic behaviour can be used, so the client code does not need to change</a:t>
            </a:r>
          </a:p>
          <a:p>
            <a:r>
              <a:rPr lang="en-GB" dirty="0"/>
              <a:t>In this project, the leave requests were handled this way:</a:t>
            </a:r>
          </a:p>
        </p:txBody>
      </p:sp>
    </p:spTree>
    <p:extLst>
      <p:ext uri="{BB962C8B-B14F-4D97-AF65-F5344CB8AC3E}">
        <p14:creationId xmlns:p14="http://schemas.microsoft.com/office/powerpoint/2010/main" val="491057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81631-3382-1B18-C89F-D72AB1ACC749}"/>
              </a:ext>
            </a:extLst>
          </p:cNvPr>
          <p:cNvSpPr>
            <a:spLocks noGrp="1"/>
          </p:cNvSpPr>
          <p:nvPr>
            <p:ph type="title"/>
          </p:nvPr>
        </p:nvSpPr>
        <p:spPr/>
        <p:txBody>
          <a:bodyPr/>
          <a:lstStyle/>
          <a:p>
            <a:pPr algn="ctr"/>
            <a:r>
              <a:rPr lang="en-GB" dirty="0"/>
              <a:t>Leave Request States</a:t>
            </a:r>
          </a:p>
        </p:txBody>
      </p:sp>
      <p:graphicFrame>
        <p:nvGraphicFramePr>
          <p:cNvPr id="4" name="Content Placeholder 3">
            <a:extLst>
              <a:ext uri="{FF2B5EF4-FFF2-40B4-BE49-F238E27FC236}">
                <a16:creationId xmlns:a16="http://schemas.microsoft.com/office/drawing/2014/main" id="{EB0CA214-9517-1351-2832-2D084D2FA01A}"/>
              </a:ext>
            </a:extLst>
          </p:cNvPr>
          <p:cNvGraphicFramePr>
            <a:graphicFrameLocks noGrp="1"/>
          </p:cNvGraphicFramePr>
          <p:nvPr>
            <p:ph idx="1"/>
          </p:nvPr>
        </p:nvGraphicFramePr>
        <p:xfrm>
          <a:off x="3233420" y="1864042"/>
          <a:ext cx="5725160" cy="4274504"/>
        </p:xfrm>
        <a:graphic>
          <a:graphicData uri="http://schemas.openxmlformats.org/drawingml/2006/table">
            <a:tbl>
              <a:tblPr firstRow="1" firstCol="1" bandRow="1">
                <a:tableStyleId>{5C22544A-7EE6-4342-B048-85BDC9FD1C3A}</a:tableStyleId>
              </a:tblPr>
              <a:tblGrid>
                <a:gridCol w="1144905">
                  <a:extLst>
                    <a:ext uri="{9D8B030D-6E8A-4147-A177-3AD203B41FA5}">
                      <a16:colId xmlns:a16="http://schemas.microsoft.com/office/drawing/2014/main" val="833528708"/>
                    </a:ext>
                  </a:extLst>
                </a:gridCol>
                <a:gridCol w="1144905">
                  <a:extLst>
                    <a:ext uri="{9D8B030D-6E8A-4147-A177-3AD203B41FA5}">
                      <a16:colId xmlns:a16="http://schemas.microsoft.com/office/drawing/2014/main" val="1976471238"/>
                    </a:ext>
                  </a:extLst>
                </a:gridCol>
                <a:gridCol w="1144905">
                  <a:extLst>
                    <a:ext uri="{9D8B030D-6E8A-4147-A177-3AD203B41FA5}">
                      <a16:colId xmlns:a16="http://schemas.microsoft.com/office/drawing/2014/main" val="2195490315"/>
                    </a:ext>
                  </a:extLst>
                </a:gridCol>
                <a:gridCol w="1144905">
                  <a:extLst>
                    <a:ext uri="{9D8B030D-6E8A-4147-A177-3AD203B41FA5}">
                      <a16:colId xmlns:a16="http://schemas.microsoft.com/office/drawing/2014/main" val="4143527704"/>
                    </a:ext>
                  </a:extLst>
                </a:gridCol>
                <a:gridCol w="1145540">
                  <a:extLst>
                    <a:ext uri="{9D8B030D-6E8A-4147-A177-3AD203B41FA5}">
                      <a16:colId xmlns:a16="http://schemas.microsoft.com/office/drawing/2014/main" val="1146972585"/>
                    </a:ext>
                  </a:extLst>
                </a:gridCol>
              </a:tblGrid>
              <a:tr h="0">
                <a:tc>
                  <a:txBody>
                    <a:bodyPr/>
                    <a:lstStyle/>
                    <a:p>
                      <a:pPr algn="ctr">
                        <a:lnSpc>
                          <a:spcPct val="107000"/>
                        </a:lnSpc>
                        <a:spcAft>
                          <a:spcPts val="800"/>
                        </a:spcAft>
                        <a:buNone/>
                      </a:pPr>
                      <a:r>
                        <a:rPr lang="en-GB" sz="1100" kern="100">
                          <a:effectLst/>
                        </a:rPr>
                        <a:t>State</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kern="100">
                          <a:effectLst/>
                        </a:rPr>
                        <a:t>approve()</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kern="100">
                          <a:effectLst/>
                        </a:rPr>
                        <a:t>reject()</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kern="100">
                          <a:effectLst/>
                        </a:rPr>
                        <a:t>cancel()</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kern="100">
                          <a:effectLst/>
                        </a:rPr>
                        <a:t>getStatus()</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54390390"/>
                  </a:ext>
                </a:extLst>
              </a:tr>
              <a:tr h="0">
                <a:tc>
                  <a:txBody>
                    <a:bodyPr/>
                    <a:lstStyle/>
                    <a:p>
                      <a:pPr algn="ctr">
                        <a:lnSpc>
                          <a:spcPct val="107000"/>
                        </a:lnSpc>
                        <a:spcAft>
                          <a:spcPts val="800"/>
                        </a:spcAft>
                        <a:buNone/>
                      </a:pPr>
                      <a:r>
                        <a:rPr lang="en-GB" sz="1100" kern="100">
                          <a:effectLst/>
                        </a:rPr>
                        <a:t>Pending</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Approves the leave request and reduces the leave balance of the user.</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Rejects the leave request.</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Cancels the leave request</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Returns the status ‘Pending’.</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2847451"/>
                  </a:ext>
                </a:extLst>
              </a:tr>
              <a:tr h="0">
                <a:tc>
                  <a:txBody>
                    <a:bodyPr/>
                    <a:lstStyle/>
                    <a:p>
                      <a:pPr algn="ctr">
                        <a:lnSpc>
                          <a:spcPct val="107000"/>
                        </a:lnSpc>
                        <a:spcAft>
                          <a:spcPts val="800"/>
                        </a:spcAft>
                        <a:buNone/>
                      </a:pPr>
                      <a:r>
                        <a:rPr lang="en-GB" sz="1100" kern="100">
                          <a:effectLst/>
                        </a:rPr>
                        <a:t>Approved</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Throws an error because an already approved request cannot be reapproved.</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Throws an error because an already approved request cannot be rejected.</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Cancels the leave request and restores the leave balance of the user.</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Returns the status ‘Approved’.</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4354802"/>
                  </a:ext>
                </a:extLst>
              </a:tr>
              <a:tr h="0">
                <a:tc>
                  <a:txBody>
                    <a:bodyPr/>
                    <a:lstStyle/>
                    <a:p>
                      <a:pPr algn="ctr">
                        <a:lnSpc>
                          <a:spcPct val="107000"/>
                        </a:lnSpc>
                        <a:spcAft>
                          <a:spcPts val="800"/>
                        </a:spcAft>
                        <a:buNone/>
                      </a:pPr>
                      <a:r>
                        <a:rPr lang="en-GB" sz="1100" kern="100">
                          <a:effectLst/>
                        </a:rPr>
                        <a:t>Rejected</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Throws an error because an already rejected request cannot be approved.</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Throws an error because an already rejected request cannot be rejected again.</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Throws an error because an already rejected request cannot be cancelled.</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Returns the status ‘Rejected’.</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99281245"/>
                  </a:ext>
                </a:extLst>
              </a:tr>
              <a:tr h="0">
                <a:tc>
                  <a:txBody>
                    <a:bodyPr/>
                    <a:lstStyle/>
                    <a:p>
                      <a:pPr algn="ctr">
                        <a:lnSpc>
                          <a:spcPct val="107000"/>
                        </a:lnSpc>
                        <a:spcAft>
                          <a:spcPts val="800"/>
                        </a:spcAft>
                        <a:buNone/>
                      </a:pPr>
                      <a:r>
                        <a:rPr lang="en-GB" sz="1100" kern="100">
                          <a:effectLst/>
                        </a:rPr>
                        <a:t>Cancelled</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Throws an error because an already cancelled request cannot be approved.</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Throws an error because an already cancelled request cannot be rejected.</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a:effectLst/>
                        </a:rPr>
                        <a:t>Throws an error because an already cancelled request cannot be recancelled.</a:t>
                      </a:r>
                      <a:endParaRPr lang="en-GB"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100" kern="100" dirty="0">
                          <a:effectLst/>
                        </a:rPr>
                        <a:t>Returns the status ‘Cancelled’.</a:t>
                      </a:r>
                      <a:endParaRPr lang="en-GB"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6996835"/>
                  </a:ext>
                </a:extLst>
              </a:tr>
            </a:tbl>
          </a:graphicData>
        </a:graphic>
      </p:graphicFrame>
    </p:spTree>
    <p:extLst>
      <p:ext uri="{BB962C8B-B14F-4D97-AF65-F5344CB8AC3E}">
        <p14:creationId xmlns:p14="http://schemas.microsoft.com/office/powerpoint/2010/main" val="1572809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3D89-9F55-47A8-BF8D-0FD6865F43A8}"/>
              </a:ext>
            </a:extLst>
          </p:cNvPr>
          <p:cNvSpPr>
            <a:spLocks noGrp="1"/>
          </p:cNvSpPr>
          <p:nvPr>
            <p:ph type="title"/>
          </p:nvPr>
        </p:nvSpPr>
        <p:spPr/>
        <p:txBody>
          <a:bodyPr/>
          <a:lstStyle/>
          <a:p>
            <a:pPr algn="ctr"/>
            <a:r>
              <a:rPr lang="en-GB" dirty="0"/>
              <a:t>The LeaveRequestState Interface</a:t>
            </a:r>
          </a:p>
        </p:txBody>
      </p:sp>
      <p:pic>
        <p:nvPicPr>
          <p:cNvPr id="5" name="Content Placeholder 4">
            <a:extLst>
              <a:ext uri="{FF2B5EF4-FFF2-40B4-BE49-F238E27FC236}">
                <a16:creationId xmlns:a16="http://schemas.microsoft.com/office/drawing/2014/main" id="{E44F9F85-5BFA-9456-78DE-7036715CA944}"/>
              </a:ext>
            </a:extLst>
          </p:cNvPr>
          <p:cNvPicPr>
            <a:picLocks noGrp="1" noChangeAspect="1"/>
          </p:cNvPicPr>
          <p:nvPr>
            <p:ph idx="1"/>
          </p:nvPr>
        </p:nvPicPr>
        <p:blipFill>
          <a:blip r:embed="rId2"/>
          <a:stretch>
            <a:fillRect/>
          </a:stretch>
        </p:blipFill>
        <p:spPr>
          <a:xfrm>
            <a:off x="3838260" y="3291582"/>
            <a:ext cx="4515480" cy="1419423"/>
          </a:xfrm>
          <a:prstGeom prst="rect">
            <a:avLst/>
          </a:prstGeom>
        </p:spPr>
      </p:pic>
    </p:spTree>
    <p:extLst>
      <p:ext uri="{BB962C8B-B14F-4D97-AF65-F5344CB8AC3E}">
        <p14:creationId xmlns:p14="http://schemas.microsoft.com/office/powerpoint/2010/main" val="4257918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3AB00-6D7A-5942-A99A-0B249B1231E6}"/>
              </a:ext>
            </a:extLst>
          </p:cNvPr>
          <p:cNvSpPr>
            <a:spLocks noGrp="1"/>
          </p:cNvSpPr>
          <p:nvPr>
            <p:ph type="title"/>
          </p:nvPr>
        </p:nvSpPr>
        <p:spPr/>
        <p:txBody>
          <a:bodyPr/>
          <a:lstStyle/>
          <a:p>
            <a:pPr algn="ctr"/>
            <a:r>
              <a:rPr lang="en-GB" dirty="0"/>
              <a:t>The Variations</a:t>
            </a:r>
          </a:p>
        </p:txBody>
      </p:sp>
      <p:pic>
        <p:nvPicPr>
          <p:cNvPr id="5" name="Content Placeholder 4">
            <a:extLst>
              <a:ext uri="{FF2B5EF4-FFF2-40B4-BE49-F238E27FC236}">
                <a16:creationId xmlns:a16="http://schemas.microsoft.com/office/drawing/2014/main" id="{F63E5052-9EA0-5DA2-A8AA-0C2DCCCF8D1A}"/>
              </a:ext>
            </a:extLst>
          </p:cNvPr>
          <p:cNvPicPr>
            <a:picLocks noGrp="1" noChangeAspect="1"/>
          </p:cNvPicPr>
          <p:nvPr>
            <p:ph idx="1"/>
          </p:nvPr>
        </p:nvPicPr>
        <p:blipFill>
          <a:blip r:embed="rId2"/>
          <a:stretch>
            <a:fillRect/>
          </a:stretch>
        </p:blipFill>
        <p:spPr>
          <a:xfrm>
            <a:off x="2899916" y="2591397"/>
            <a:ext cx="6392167" cy="2819794"/>
          </a:xfrm>
          <a:prstGeom prst="rect">
            <a:avLst/>
          </a:prstGeom>
        </p:spPr>
      </p:pic>
    </p:spTree>
    <p:extLst>
      <p:ext uri="{BB962C8B-B14F-4D97-AF65-F5344CB8AC3E}">
        <p14:creationId xmlns:p14="http://schemas.microsoft.com/office/powerpoint/2010/main" val="1994704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612C3-A613-ABB8-612D-2EE8148BD9DB}"/>
              </a:ext>
            </a:extLst>
          </p:cNvPr>
          <p:cNvSpPr>
            <a:spLocks noGrp="1"/>
          </p:cNvSpPr>
          <p:nvPr>
            <p:ph type="title"/>
          </p:nvPr>
        </p:nvSpPr>
        <p:spPr/>
        <p:txBody>
          <a:bodyPr/>
          <a:lstStyle/>
          <a:p>
            <a:pPr algn="ctr"/>
            <a:r>
              <a:rPr lang="en-GB" dirty="0"/>
              <a:t>The LeaveRequest Entity Client Code</a:t>
            </a:r>
          </a:p>
        </p:txBody>
      </p:sp>
      <p:pic>
        <p:nvPicPr>
          <p:cNvPr id="5" name="Content Placeholder 4">
            <a:extLst>
              <a:ext uri="{FF2B5EF4-FFF2-40B4-BE49-F238E27FC236}">
                <a16:creationId xmlns:a16="http://schemas.microsoft.com/office/drawing/2014/main" id="{FCE768BD-E85B-44CF-E3BE-7B30A17BC062}"/>
              </a:ext>
            </a:extLst>
          </p:cNvPr>
          <p:cNvPicPr>
            <a:picLocks noGrp="1" noChangeAspect="1"/>
          </p:cNvPicPr>
          <p:nvPr>
            <p:ph idx="1"/>
          </p:nvPr>
        </p:nvPicPr>
        <p:blipFill>
          <a:blip r:embed="rId2"/>
          <a:stretch>
            <a:fillRect/>
          </a:stretch>
        </p:blipFill>
        <p:spPr>
          <a:xfrm>
            <a:off x="4663914" y="1825625"/>
            <a:ext cx="2864171" cy="4351338"/>
          </a:xfrm>
          <a:prstGeom prst="rect">
            <a:avLst/>
          </a:prstGeom>
        </p:spPr>
      </p:pic>
    </p:spTree>
    <p:extLst>
      <p:ext uri="{BB962C8B-B14F-4D97-AF65-F5344CB8AC3E}">
        <p14:creationId xmlns:p14="http://schemas.microsoft.com/office/powerpoint/2010/main" val="2651690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88DDC-328F-027E-0ED0-EB362D29A475}"/>
              </a:ext>
            </a:extLst>
          </p:cNvPr>
          <p:cNvSpPr>
            <a:spLocks noGrp="1"/>
          </p:cNvSpPr>
          <p:nvPr>
            <p:ph type="title"/>
          </p:nvPr>
        </p:nvSpPr>
        <p:spPr/>
        <p:txBody>
          <a:bodyPr/>
          <a:lstStyle/>
          <a:p>
            <a:pPr algn="ctr"/>
            <a:r>
              <a:rPr lang="en-GB" dirty="0"/>
              <a:t>Factory Pattern</a:t>
            </a:r>
          </a:p>
        </p:txBody>
      </p:sp>
      <p:sp>
        <p:nvSpPr>
          <p:cNvPr id="3" name="Content Placeholder 2">
            <a:extLst>
              <a:ext uri="{FF2B5EF4-FFF2-40B4-BE49-F238E27FC236}">
                <a16:creationId xmlns:a16="http://schemas.microsoft.com/office/drawing/2014/main" id="{C93B1146-FCD1-54B3-3B70-8D00C92245A3}"/>
              </a:ext>
            </a:extLst>
          </p:cNvPr>
          <p:cNvSpPr>
            <a:spLocks noGrp="1"/>
          </p:cNvSpPr>
          <p:nvPr>
            <p:ph idx="1"/>
          </p:nvPr>
        </p:nvSpPr>
        <p:spPr/>
        <p:txBody>
          <a:bodyPr/>
          <a:lstStyle/>
          <a:p>
            <a:r>
              <a:rPr lang="en-GB" dirty="0"/>
              <a:t>Defines an interface for creating a </a:t>
            </a:r>
            <a:r>
              <a:rPr lang="en-GB" i="1" dirty="0"/>
              <a:t>single</a:t>
            </a:r>
            <a:r>
              <a:rPr lang="en-GB" dirty="0"/>
              <a:t> object, but let subclasses decide which class to instantiate. Factory Method lets a class defer instantiation to subclasses.</a:t>
            </a:r>
          </a:p>
          <a:p>
            <a:r>
              <a:rPr lang="en-GB" dirty="0"/>
              <a:t>I varied this pattern in my code, creating multiple concrete factories that each return a type, to help with Dependency Injection and to help with data-persistence and repository creation in each request</a:t>
            </a:r>
          </a:p>
        </p:txBody>
      </p:sp>
    </p:spTree>
    <p:extLst>
      <p:ext uri="{BB962C8B-B14F-4D97-AF65-F5344CB8AC3E}">
        <p14:creationId xmlns:p14="http://schemas.microsoft.com/office/powerpoint/2010/main" val="2049984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BB4D2-233C-E66B-80D6-B863AF4EBC4E}"/>
              </a:ext>
            </a:extLst>
          </p:cNvPr>
          <p:cNvSpPr>
            <a:spLocks noGrp="1"/>
          </p:cNvSpPr>
          <p:nvPr>
            <p:ph type="title"/>
          </p:nvPr>
        </p:nvSpPr>
        <p:spPr/>
        <p:txBody>
          <a:bodyPr/>
          <a:lstStyle/>
          <a:p>
            <a:pPr algn="ctr"/>
            <a:r>
              <a:rPr lang="en-GB" dirty="0"/>
              <a:t>Factory Examples</a:t>
            </a:r>
          </a:p>
        </p:txBody>
      </p:sp>
      <p:pic>
        <p:nvPicPr>
          <p:cNvPr id="5" name="Content Placeholder 4">
            <a:extLst>
              <a:ext uri="{FF2B5EF4-FFF2-40B4-BE49-F238E27FC236}">
                <a16:creationId xmlns:a16="http://schemas.microsoft.com/office/drawing/2014/main" id="{35AF45A2-68C5-C5C0-C520-B4D79119C5AE}"/>
              </a:ext>
            </a:extLst>
          </p:cNvPr>
          <p:cNvPicPr>
            <a:picLocks noGrp="1" noChangeAspect="1"/>
          </p:cNvPicPr>
          <p:nvPr>
            <p:ph idx="1"/>
          </p:nvPr>
        </p:nvPicPr>
        <p:blipFill>
          <a:blip r:embed="rId2"/>
          <a:stretch>
            <a:fillRect/>
          </a:stretch>
        </p:blipFill>
        <p:spPr>
          <a:xfrm>
            <a:off x="4543279" y="1825625"/>
            <a:ext cx="3105442" cy="4351338"/>
          </a:xfrm>
          <a:prstGeom prst="rect">
            <a:avLst/>
          </a:prstGeom>
        </p:spPr>
      </p:pic>
    </p:spTree>
    <p:extLst>
      <p:ext uri="{BB962C8B-B14F-4D97-AF65-F5344CB8AC3E}">
        <p14:creationId xmlns:p14="http://schemas.microsoft.com/office/powerpoint/2010/main" val="869702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3093B-F9EE-32A7-47DF-2B1E14B805D1}"/>
              </a:ext>
            </a:extLst>
          </p:cNvPr>
          <p:cNvSpPr>
            <a:spLocks noGrp="1"/>
          </p:cNvSpPr>
          <p:nvPr>
            <p:ph type="title"/>
          </p:nvPr>
        </p:nvSpPr>
        <p:spPr/>
        <p:txBody>
          <a:bodyPr/>
          <a:lstStyle/>
          <a:p>
            <a:pPr algn="ctr"/>
            <a:r>
              <a:rPr lang="en-GB" dirty="0"/>
              <a:t>Factory Injection</a:t>
            </a:r>
          </a:p>
        </p:txBody>
      </p:sp>
      <p:pic>
        <p:nvPicPr>
          <p:cNvPr id="5" name="Content Placeholder 4">
            <a:extLst>
              <a:ext uri="{FF2B5EF4-FFF2-40B4-BE49-F238E27FC236}">
                <a16:creationId xmlns:a16="http://schemas.microsoft.com/office/drawing/2014/main" id="{CF60EE09-240B-EB75-EC1F-57F15D8C6082}"/>
              </a:ext>
            </a:extLst>
          </p:cNvPr>
          <p:cNvPicPr>
            <a:picLocks noGrp="1" noChangeAspect="1"/>
          </p:cNvPicPr>
          <p:nvPr>
            <p:ph idx="1"/>
          </p:nvPr>
        </p:nvPicPr>
        <p:blipFill>
          <a:blip r:embed="rId2"/>
          <a:stretch>
            <a:fillRect/>
          </a:stretch>
        </p:blipFill>
        <p:spPr>
          <a:xfrm>
            <a:off x="3771575" y="2981976"/>
            <a:ext cx="4648849" cy="2038635"/>
          </a:xfrm>
          <a:prstGeom prst="rect">
            <a:avLst/>
          </a:prstGeom>
        </p:spPr>
      </p:pic>
    </p:spTree>
    <p:extLst>
      <p:ext uri="{BB962C8B-B14F-4D97-AF65-F5344CB8AC3E}">
        <p14:creationId xmlns:p14="http://schemas.microsoft.com/office/powerpoint/2010/main" val="2743897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E4F94-F0DB-73F8-1D64-6EB4800266F6}"/>
              </a:ext>
            </a:extLst>
          </p:cNvPr>
          <p:cNvSpPr>
            <a:spLocks noGrp="1"/>
          </p:cNvSpPr>
          <p:nvPr>
            <p:ph type="title"/>
          </p:nvPr>
        </p:nvSpPr>
        <p:spPr/>
        <p:txBody>
          <a:bodyPr/>
          <a:lstStyle/>
          <a:p>
            <a:pPr algn="ctr"/>
            <a:r>
              <a:rPr lang="en-GB" dirty="0"/>
              <a:t>Use of Factory in a Request</a:t>
            </a:r>
          </a:p>
        </p:txBody>
      </p:sp>
      <p:pic>
        <p:nvPicPr>
          <p:cNvPr id="5" name="Content Placeholder 4">
            <a:extLst>
              <a:ext uri="{FF2B5EF4-FFF2-40B4-BE49-F238E27FC236}">
                <a16:creationId xmlns:a16="http://schemas.microsoft.com/office/drawing/2014/main" id="{E7259528-1F20-C1EE-EF77-0BDA39D8673C}"/>
              </a:ext>
            </a:extLst>
          </p:cNvPr>
          <p:cNvPicPr>
            <a:picLocks noGrp="1" noChangeAspect="1"/>
          </p:cNvPicPr>
          <p:nvPr>
            <p:ph idx="1"/>
          </p:nvPr>
        </p:nvPicPr>
        <p:blipFill>
          <a:blip r:embed="rId2"/>
          <a:stretch>
            <a:fillRect/>
          </a:stretch>
        </p:blipFill>
        <p:spPr>
          <a:xfrm>
            <a:off x="2861811" y="3039134"/>
            <a:ext cx="6468378" cy="1924319"/>
          </a:xfrm>
          <a:prstGeom prst="rect">
            <a:avLst/>
          </a:prstGeom>
        </p:spPr>
      </p:pic>
    </p:spTree>
    <p:extLst>
      <p:ext uri="{BB962C8B-B14F-4D97-AF65-F5344CB8AC3E}">
        <p14:creationId xmlns:p14="http://schemas.microsoft.com/office/powerpoint/2010/main" val="865982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7F3F-4901-D289-D028-351F2D5C7E68}"/>
              </a:ext>
            </a:extLst>
          </p:cNvPr>
          <p:cNvSpPr>
            <a:spLocks noGrp="1"/>
          </p:cNvSpPr>
          <p:nvPr>
            <p:ph type="title"/>
          </p:nvPr>
        </p:nvSpPr>
        <p:spPr/>
        <p:txBody>
          <a:bodyPr/>
          <a:lstStyle/>
          <a:p>
            <a:pPr algn="ctr"/>
            <a:r>
              <a:rPr lang="en-GB" dirty="0"/>
              <a:t>Repository Pattern</a:t>
            </a:r>
          </a:p>
        </p:txBody>
      </p:sp>
      <p:sp>
        <p:nvSpPr>
          <p:cNvPr id="3" name="Content Placeholder 2">
            <a:extLst>
              <a:ext uri="{FF2B5EF4-FFF2-40B4-BE49-F238E27FC236}">
                <a16:creationId xmlns:a16="http://schemas.microsoft.com/office/drawing/2014/main" id="{9AED8E44-A313-1740-BC81-17798B942940}"/>
              </a:ext>
            </a:extLst>
          </p:cNvPr>
          <p:cNvSpPr>
            <a:spLocks noGrp="1"/>
          </p:cNvSpPr>
          <p:nvPr>
            <p:ph idx="1"/>
          </p:nvPr>
        </p:nvSpPr>
        <p:spPr/>
        <p:txBody>
          <a:bodyPr/>
          <a:lstStyle/>
          <a:p>
            <a:r>
              <a:rPr lang="en-GB" dirty="0"/>
              <a:t>The Repository pattern is used for data-access boundary between controllers and </a:t>
            </a:r>
            <a:r>
              <a:rPr lang="en-GB" dirty="0" err="1"/>
              <a:t>TypeORM</a:t>
            </a:r>
            <a:r>
              <a:rPr lang="en-GB" dirty="0"/>
              <a:t>.</a:t>
            </a:r>
          </a:p>
          <a:p>
            <a:r>
              <a:rPr lang="en-GB" dirty="0"/>
              <a:t>By wrapping ORM functionality, business friendly functions can be called, meaning changes to the underlying ORM operations in the future should not affect the client code, the controller should only change when the particular business logic changes</a:t>
            </a:r>
          </a:p>
        </p:txBody>
      </p:sp>
    </p:spTree>
    <p:extLst>
      <p:ext uri="{BB962C8B-B14F-4D97-AF65-F5344CB8AC3E}">
        <p14:creationId xmlns:p14="http://schemas.microsoft.com/office/powerpoint/2010/main" val="2779461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41471-F96B-EB92-DB6F-509963700F3A}"/>
              </a:ext>
            </a:extLst>
          </p:cNvPr>
          <p:cNvSpPr>
            <a:spLocks noGrp="1"/>
          </p:cNvSpPr>
          <p:nvPr>
            <p:ph type="title"/>
          </p:nvPr>
        </p:nvSpPr>
        <p:spPr/>
        <p:txBody>
          <a:bodyPr/>
          <a:lstStyle/>
          <a:p>
            <a:pPr algn="ctr"/>
            <a:r>
              <a:rPr lang="en-GB" dirty="0"/>
              <a:t>Repository Pattern in Controller</a:t>
            </a:r>
          </a:p>
        </p:txBody>
      </p:sp>
      <p:pic>
        <p:nvPicPr>
          <p:cNvPr id="9" name="Content Placeholder 8">
            <a:extLst>
              <a:ext uri="{FF2B5EF4-FFF2-40B4-BE49-F238E27FC236}">
                <a16:creationId xmlns:a16="http://schemas.microsoft.com/office/drawing/2014/main" id="{903F6262-CA2A-3EC9-BAD8-23C2E711F670}"/>
              </a:ext>
            </a:extLst>
          </p:cNvPr>
          <p:cNvPicPr>
            <a:picLocks noGrp="1" noChangeAspect="1"/>
          </p:cNvPicPr>
          <p:nvPr>
            <p:ph idx="1"/>
          </p:nvPr>
        </p:nvPicPr>
        <p:blipFill>
          <a:blip r:embed="rId2"/>
          <a:stretch>
            <a:fillRect/>
          </a:stretch>
        </p:blipFill>
        <p:spPr>
          <a:xfrm>
            <a:off x="3757286" y="3605951"/>
            <a:ext cx="4677428" cy="790685"/>
          </a:xfrm>
          <a:prstGeom prst="rect">
            <a:avLst/>
          </a:prstGeom>
        </p:spPr>
      </p:pic>
    </p:spTree>
    <p:extLst>
      <p:ext uri="{BB962C8B-B14F-4D97-AF65-F5344CB8AC3E}">
        <p14:creationId xmlns:p14="http://schemas.microsoft.com/office/powerpoint/2010/main" val="155241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2DDC4-6E24-B168-1CC0-E77A1D4B84C1}"/>
              </a:ext>
            </a:extLst>
          </p:cNvPr>
          <p:cNvSpPr>
            <a:spLocks noGrp="1"/>
          </p:cNvSpPr>
          <p:nvPr>
            <p:ph type="title"/>
          </p:nvPr>
        </p:nvSpPr>
        <p:spPr/>
        <p:txBody>
          <a:bodyPr/>
          <a:lstStyle/>
          <a:p>
            <a:pPr algn="ctr"/>
            <a:r>
              <a:rPr lang="en-GB" dirty="0"/>
              <a:t>Actual Repository Code</a:t>
            </a:r>
          </a:p>
        </p:txBody>
      </p:sp>
      <p:pic>
        <p:nvPicPr>
          <p:cNvPr id="13" name="Content Placeholder 12">
            <a:extLst>
              <a:ext uri="{FF2B5EF4-FFF2-40B4-BE49-F238E27FC236}">
                <a16:creationId xmlns:a16="http://schemas.microsoft.com/office/drawing/2014/main" id="{AEB706F8-15E0-8A73-8F95-1704B6675470}"/>
              </a:ext>
            </a:extLst>
          </p:cNvPr>
          <p:cNvPicPr>
            <a:picLocks noGrp="1" noChangeAspect="1"/>
          </p:cNvPicPr>
          <p:nvPr>
            <p:ph idx="1"/>
          </p:nvPr>
        </p:nvPicPr>
        <p:blipFill>
          <a:blip r:embed="rId2"/>
          <a:stretch>
            <a:fillRect/>
          </a:stretch>
        </p:blipFill>
        <p:spPr>
          <a:xfrm>
            <a:off x="4050060" y="1825625"/>
            <a:ext cx="4091879" cy="4351338"/>
          </a:xfrm>
          <a:prstGeom prst="rect">
            <a:avLst/>
          </a:prstGeom>
        </p:spPr>
      </p:pic>
    </p:spTree>
    <p:extLst>
      <p:ext uri="{BB962C8B-B14F-4D97-AF65-F5344CB8AC3E}">
        <p14:creationId xmlns:p14="http://schemas.microsoft.com/office/powerpoint/2010/main" val="1029970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91D20-6A67-CB05-3AD0-7059A0BDCA70}"/>
              </a:ext>
            </a:extLst>
          </p:cNvPr>
          <p:cNvSpPr>
            <a:spLocks noGrp="1"/>
          </p:cNvSpPr>
          <p:nvPr>
            <p:ph type="title"/>
          </p:nvPr>
        </p:nvSpPr>
        <p:spPr/>
        <p:txBody>
          <a:bodyPr/>
          <a:lstStyle/>
          <a:p>
            <a:pPr algn="ctr"/>
            <a:r>
              <a:rPr lang="en-GB" dirty="0"/>
              <a:t>Dependency Injection</a:t>
            </a:r>
          </a:p>
        </p:txBody>
      </p:sp>
      <p:sp>
        <p:nvSpPr>
          <p:cNvPr id="3" name="Content Placeholder 2">
            <a:extLst>
              <a:ext uri="{FF2B5EF4-FFF2-40B4-BE49-F238E27FC236}">
                <a16:creationId xmlns:a16="http://schemas.microsoft.com/office/drawing/2014/main" id="{15FF9D04-530E-F3BD-9048-1C0834A71384}"/>
              </a:ext>
            </a:extLst>
          </p:cNvPr>
          <p:cNvSpPr>
            <a:spLocks noGrp="1"/>
          </p:cNvSpPr>
          <p:nvPr>
            <p:ph idx="1"/>
          </p:nvPr>
        </p:nvSpPr>
        <p:spPr/>
        <p:txBody>
          <a:bodyPr/>
          <a:lstStyle/>
          <a:p>
            <a:r>
              <a:rPr lang="en-GB" dirty="0"/>
              <a:t>Dependency Injection is where a class is injected with the objects it needs instead of creating them itself, usually through something called a composition root</a:t>
            </a:r>
          </a:p>
          <a:p>
            <a:r>
              <a:rPr lang="en-GB" dirty="0"/>
              <a:t>This reduces coupling, allows for testability through mocking/ stubbing components, and allows polymorphism to help when dependencies may change based on environment</a:t>
            </a:r>
          </a:p>
          <a:p>
            <a:r>
              <a:rPr lang="en-GB" dirty="0"/>
              <a:t>Allows for a more centralised Creator class, simplifying the program and reducing confusing code</a:t>
            </a:r>
          </a:p>
        </p:txBody>
      </p:sp>
    </p:spTree>
    <p:extLst>
      <p:ext uri="{BB962C8B-B14F-4D97-AF65-F5344CB8AC3E}">
        <p14:creationId xmlns:p14="http://schemas.microsoft.com/office/powerpoint/2010/main" val="3640075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B6427-3AC9-6744-8294-950D02368B86}"/>
              </a:ext>
            </a:extLst>
          </p:cNvPr>
          <p:cNvSpPr>
            <a:spLocks noGrp="1"/>
          </p:cNvSpPr>
          <p:nvPr>
            <p:ph type="title"/>
          </p:nvPr>
        </p:nvSpPr>
        <p:spPr/>
        <p:txBody>
          <a:bodyPr/>
          <a:lstStyle/>
          <a:p>
            <a:pPr algn="ctr"/>
            <a:r>
              <a:rPr lang="en-GB" dirty="0"/>
              <a:t>Dependency Injection in the Index</a:t>
            </a:r>
          </a:p>
        </p:txBody>
      </p:sp>
      <p:pic>
        <p:nvPicPr>
          <p:cNvPr id="5" name="Content Placeholder 4">
            <a:extLst>
              <a:ext uri="{FF2B5EF4-FFF2-40B4-BE49-F238E27FC236}">
                <a16:creationId xmlns:a16="http://schemas.microsoft.com/office/drawing/2014/main" id="{6A143150-9154-A00D-460D-C7046F51156F}"/>
              </a:ext>
            </a:extLst>
          </p:cNvPr>
          <p:cNvPicPr>
            <a:picLocks noGrp="1" noChangeAspect="1"/>
          </p:cNvPicPr>
          <p:nvPr>
            <p:ph idx="1"/>
          </p:nvPr>
        </p:nvPicPr>
        <p:blipFill>
          <a:blip r:embed="rId2"/>
          <a:stretch>
            <a:fillRect/>
          </a:stretch>
        </p:blipFill>
        <p:spPr>
          <a:xfrm>
            <a:off x="4910425" y="1825625"/>
            <a:ext cx="2371149" cy="4351338"/>
          </a:xfrm>
          <a:prstGeom prst="rect">
            <a:avLst/>
          </a:prstGeom>
        </p:spPr>
      </p:pic>
    </p:spTree>
    <p:extLst>
      <p:ext uri="{BB962C8B-B14F-4D97-AF65-F5344CB8AC3E}">
        <p14:creationId xmlns:p14="http://schemas.microsoft.com/office/powerpoint/2010/main" val="1456165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B2079-F2E0-7F17-02D3-91E49EFFDF4A}"/>
              </a:ext>
            </a:extLst>
          </p:cNvPr>
          <p:cNvSpPr>
            <a:spLocks noGrp="1"/>
          </p:cNvSpPr>
          <p:nvPr>
            <p:ph type="title"/>
          </p:nvPr>
        </p:nvSpPr>
        <p:spPr/>
        <p:txBody>
          <a:bodyPr/>
          <a:lstStyle/>
          <a:p>
            <a:pPr algn="ctr"/>
            <a:r>
              <a:rPr lang="en-GB" dirty="0"/>
              <a:t>Chain of Responsibility Pattern</a:t>
            </a:r>
          </a:p>
        </p:txBody>
      </p:sp>
      <p:sp>
        <p:nvSpPr>
          <p:cNvPr id="3" name="Content Placeholder 2">
            <a:extLst>
              <a:ext uri="{FF2B5EF4-FFF2-40B4-BE49-F238E27FC236}">
                <a16:creationId xmlns:a16="http://schemas.microsoft.com/office/drawing/2014/main" id="{C7826A35-25C5-6380-0500-CAD7B00EE5AC}"/>
              </a:ext>
            </a:extLst>
          </p:cNvPr>
          <p:cNvSpPr>
            <a:spLocks noGrp="1"/>
          </p:cNvSpPr>
          <p:nvPr>
            <p:ph idx="1"/>
          </p:nvPr>
        </p:nvSpPr>
        <p:spPr/>
        <p:txBody>
          <a:bodyPr/>
          <a:lstStyle/>
          <a:p>
            <a:r>
              <a:rPr lang="en-GB" dirty="0"/>
              <a:t>The Chain of Responsibility pattern is where a request is passed along a series of handlers, and each handler decides whether to process it or pass it on</a:t>
            </a:r>
          </a:p>
          <a:p>
            <a:r>
              <a:rPr lang="en-GB" dirty="0"/>
              <a:t>The high-level architecture of the program handles this</a:t>
            </a:r>
          </a:p>
          <a:p>
            <a:r>
              <a:rPr lang="en-GB" dirty="0"/>
              <a:t>Implementations details, such as the middleware chains, also handle this:</a:t>
            </a:r>
          </a:p>
        </p:txBody>
      </p:sp>
    </p:spTree>
    <p:extLst>
      <p:ext uri="{BB962C8B-B14F-4D97-AF65-F5344CB8AC3E}">
        <p14:creationId xmlns:p14="http://schemas.microsoft.com/office/powerpoint/2010/main" val="1885938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C8CCC-AC78-EB7B-6DAE-09CB7E70FD19}"/>
              </a:ext>
            </a:extLst>
          </p:cNvPr>
          <p:cNvSpPr>
            <a:spLocks noGrp="1"/>
          </p:cNvSpPr>
          <p:nvPr>
            <p:ph type="title"/>
          </p:nvPr>
        </p:nvSpPr>
        <p:spPr/>
        <p:txBody>
          <a:bodyPr/>
          <a:lstStyle/>
          <a:p>
            <a:pPr algn="ctr"/>
            <a:r>
              <a:rPr lang="en-GB" dirty="0"/>
              <a:t>High-level Architecture COR</a:t>
            </a:r>
          </a:p>
        </p:txBody>
      </p:sp>
      <p:pic>
        <p:nvPicPr>
          <p:cNvPr id="4" name="Content Placeholder 3">
            <a:extLst>
              <a:ext uri="{FF2B5EF4-FFF2-40B4-BE49-F238E27FC236}">
                <a16:creationId xmlns:a16="http://schemas.microsoft.com/office/drawing/2014/main" id="{3D3DDA81-9EA5-2F08-9143-8CF2FABDC91F}"/>
              </a:ext>
            </a:extLst>
          </p:cNvPr>
          <p:cNvPicPr>
            <a:picLocks noGrp="1" noChangeAspect="1"/>
          </p:cNvPicPr>
          <p:nvPr>
            <p:ph idx="1"/>
          </p:nvPr>
        </p:nvPicPr>
        <p:blipFill>
          <a:blip r:embed="rId2"/>
          <a:stretch>
            <a:fillRect/>
          </a:stretch>
        </p:blipFill>
        <p:spPr>
          <a:xfrm>
            <a:off x="3727061" y="1825625"/>
            <a:ext cx="4737878" cy="4351338"/>
          </a:xfrm>
          <a:prstGeom prst="rect">
            <a:avLst/>
          </a:prstGeom>
        </p:spPr>
      </p:pic>
    </p:spTree>
    <p:extLst>
      <p:ext uri="{BB962C8B-B14F-4D97-AF65-F5344CB8AC3E}">
        <p14:creationId xmlns:p14="http://schemas.microsoft.com/office/powerpoint/2010/main" val="979962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7F85A-6D60-B96A-EA2C-BC4BFA122E1E}"/>
              </a:ext>
            </a:extLst>
          </p:cNvPr>
          <p:cNvSpPr>
            <a:spLocks noGrp="1"/>
          </p:cNvSpPr>
          <p:nvPr>
            <p:ph type="title"/>
          </p:nvPr>
        </p:nvSpPr>
        <p:spPr/>
        <p:txBody>
          <a:bodyPr/>
          <a:lstStyle/>
          <a:p>
            <a:pPr algn="ctr"/>
            <a:r>
              <a:rPr lang="en-GB" dirty="0"/>
              <a:t>Middleware COR</a:t>
            </a:r>
          </a:p>
        </p:txBody>
      </p:sp>
      <p:pic>
        <p:nvPicPr>
          <p:cNvPr id="9" name="Content Placeholder 8">
            <a:extLst>
              <a:ext uri="{FF2B5EF4-FFF2-40B4-BE49-F238E27FC236}">
                <a16:creationId xmlns:a16="http://schemas.microsoft.com/office/drawing/2014/main" id="{A36D2AA8-4465-06E3-E53E-CBC371E4A170}"/>
              </a:ext>
            </a:extLst>
          </p:cNvPr>
          <p:cNvPicPr>
            <a:picLocks noGrp="1" noChangeAspect="1"/>
          </p:cNvPicPr>
          <p:nvPr>
            <p:ph idx="1"/>
          </p:nvPr>
        </p:nvPicPr>
        <p:blipFill>
          <a:blip r:embed="rId2"/>
          <a:stretch>
            <a:fillRect/>
          </a:stretch>
        </p:blipFill>
        <p:spPr>
          <a:xfrm>
            <a:off x="5114788" y="3477346"/>
            <a:ext cx="1962424" cy="1047896"/>
          </a:xfrm>
          <a:prstGeom prst="rect">
            <a:avLst/>
          </a:prstGeom>
        </p:spPr>
      </p:pic>
    </p:spTree>
    <p:extLst>
      <p:ext uri="{BB962C8B-B14F-4D97-AF65-F5344CB8AC3E}">
        <p14:creationId xmlns:p14="http://schemas.microsoft.com/office/powerpoint/2010/main" val="2087146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82C15-AE9C-2579-8147-578A2A710CB2}"/>
              </a:ext>
            </a:extLst>
          </p:cNvPr>
          <p:cNvSpPr>
            <a:spLocks noGrp="1"/>
          </p:cNvSpPr>
          <p:nvPr>
            <p:ph type="title"/>
          </p:nvPr>
        </p:nvSpPr>
        <p:spPr/>
        <p:txBody>
          <a:bodyPr/>
          <a:lstStyle/>
          <a:p>
            <a:pPr algn="ctr"/>
            <a:r>
              <a:rPr lang="en-GB" dirty="0"/>
              <a:t>Router COR</a:t>
            </a:r>
          </a:p>
        </p:txBody>
      </p:sp>
      <p:pic>
        <p:nvPicPr>
          <p:cNvPr id="9" name="Content Placeholder 8">
            <a:extLst>
              <a:ext uri="{FF2B5EF4-FFF2-40B4-BE49-F238E27FC236}">
                <a16:creationId xmlns:a16="http://schemas.microsoft.com/office/drawing/2014/main" id="{F2A0ED98-ADEC-13C7-B22D-EBA120A38014}"/>
              </a:ext>
            </a:extLst>
          </p:cNvPr>
          <p:cNvPicPr>
            <a:picLocks noGrp="1" noChangeAspect="1"/>
          </p:cNvPicPr>
          <p:nvPr>
            <p:ph idx="1"/>
          </p:nvPr>
        </p:nvPicPr>
        <p:blipFill>
          <a:blip r:embed="rId2"/>
          <a:stretch>
            <a:fillRect/>
          </a:stretch>
        </p:blipFill>
        <p:spPr>
          <a:xfrm>
            <a:off x="3476259" y="3086766"/>
            <a:ext cx="5239481" cy="1829055"/>
          </a:xfrm>
          <a:prstGeom prst="rect">
            <a:avLst/>
          </a:prstGeom>
        </p:spPr>
      </p:pic>
    </p:spTree>
    <p:extLst>
      <p:ext uri="{BB962C8B-B14F-4D97-AF65-F5344CB8AC3E}">
        <p14:creationId xmlns:p14="http://schemas.microsoft.com/office/powerpoint/2010/main" val="3024735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DFBAE-735F-BDAE-1BBB-9EFF64D3F84E}"/>
              </a:ext>
            </a:extLst>
          </p:cNvPr>
          <p:cNvSpPr>
            <a:spLocks noGrp="1"/>
          </p:cNvSpPr>
          <p:nvPr>
            <p:ph type="title"/>
          </p:nvPr>
        </p:nvSpPr>
        <p:spPr/>
        <p:txBody>
          <a:bodyPr/>
          <a:lstStyle/>
          <a:p>
            <a:pPr algn="ctr"/>
            <a:r>
              <a:rPr lang="en-GB" dirty="0"/>
              <a:t>Strategy Pattern</a:t>
            </a:r>
          </a:p>
        </p:txBody>
      </p:sp>
      <p:sp>
        <p:nvSpPr>
          <p:cNvPr id="3" name="Content Placeholder 2">
            <a:extLst>
              <a:ext uri="{FF2B5EF4-FFF2-40B4-BE49-F238E27FC236}">
                <a16:creationId xmlns:a16="http://schemas.microsoft.com/office/drawing/2014/main" id="{126D800D-46EE-8802-2006-D3BF30C81BDE}"/>
              </a:ext>
            </a:extLst>
          </p:cNvPr>
          <p:cNvSpPr>
            <a:spLocks noGrp="1"/>
          </p:cNvSpPr>
          <p:nvPr>
            <p:ph idx="1"/>
          </p:nvPr>
        </p:nvSpPr>
        <p:spPr/>
        <p:txBody>
          <a:bodyPr/>
          <a:lstStyle/>
          <a:p>
            <a:r>
              <a:rPr lang="en-GB" dirty="0"/>
              <a:t>The Strategy pattern was started with the ILogger interface being used to inject a FileLogger into a responseLogger function</a:t>
            </a:r>
          </a:p>
          <a:p>
            <a:r>
              <a:rPr lang="en-GB" dirty="0"/>
              <a:t>In the future, different types of loggers could be created, based on environment, allowing polymorphic functionality to be retained</a:t>
            </a:r>
          </a:p>
          <a:p>
            <a:r>
              <a:rPr lang="en-GB" dirty="0"/>
              <a:t>Examples could be ConsoleLogger or RemoteLogger etc</a:t>
            </a:r>
          </a:p>
        </p:txBody>
      </p:sp>
    </p:spTree>
    <p:extLst>
      <p:ext uri="{BB962C8B-B14F-4D97-AF65-F5344CB8AC3E}">
        <p14:creationId xmlns:p14="http://schemas.microsoft.com/office/powerpoint/2010/main" val="459112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094A-05C8-0FDD-93C3-0308A5D505D8}"/>
              </a:ext>
            </a:extLst>
          </p:cNvPr>
          <p:cNvSpPr>
            <a:spLocks noGrp="1"/>
          </p:cNvSpPr>
          <p:nvPr>
            <p:ph type="title"/>
          </p:nvPr>
        </p:nvSpPr>
        <p:spPr/>
        <p:txBody>
          <a:bodyPr/>
          <a:lstStyle/>
          <a:p>
            <a:pPr algn="ctr"/>
            <a:r>
              <a:rPr lang="en-GB" dirty="0"/>
              <a:t>ILogger Polymorphism</a:t>
            </a:r>
          </a:p>
        </p:txBody>
      </p:sp>
      <p:pic>
        <p:nvPicPr>
          <p:cNvPr id="4" name="Content Placeholder 3">
            <a:extLst>
              <a:ext uri="{FF2B5EF4-FFF2-40B4-BE49-F238E27FC236}">
                <a16:creationId xmlns:a16="http://schemas.microsoft.com/office/drawing/2014/main" id="{97AA32F8-272B-C4B6-4411-27D9426ADAA6}"/>
              </a:ext>
            </a:extLst>
          </p:cNvPr>
          <p:cNvPicPr>
            <a:picLocks noGrp="1" noChangeAspect="1"/>
          </p:cNvPicPr>
          <p:nvPr>
            <p:ph idx="1"/>
          </p:nvPr>
        </p:nvPicPr>
        <p:blipFill>
          <a:blip r:embed="rId2"/>
          <a:stretch>
            <a:fillRect/>
          </a:stretch>
        </p:blipFill>
        <p:spPr>
          <a:xfrm>
            <a:off x="2117806" y="1825625"/>
            <a:ext cx="7956388" cy="4351338"/>
          </a:xfrm>
          <a:prstGeom prst="rect">
            <a:avLst/>
          </a:prstGeom>
        </p:spPr>
      </p:pic>
    </p:spTree>
    <p:extLst>
      <p:ext uri="{BB962C8B-B14F-4D97-AF65-F5344CB8AC3E}">
        <p14:creationId xmlns:p14="http://schemas.microsoft.com/office/powerpoint/2010/main" val="1601252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76FD9-FEC7-4F54-9CA2-E52DF75195C7}"/>
              </a:ext>
            </a:extLst>
          </p:cNvPr>
          <p:cNvSpPr>
            <a:spLocks noGrp="1"/>
          </p:cNvSpPr>
          <p:nvPr>
            <p:ph type="title"/>
          </p:nvPr>
        </p:nvSpPr>
        <p:spPr/>
        <p:txBody>
          <a:bodyPr/>
          <a:lstStyle/>
          <a:p>
            <a:pPr algn="ctr"/>
            <a:r>
              <a:rPr lang="en-GB" dirty="0"/>
              <a:t>ILogger Interface</a:t>
            </a:r>
          </a:p>
        </p:txBody>
      </p:sp>
      <p:pic>
        <p:nvPicPr>
          <p:cNvPr id="5" name="Content Placeholder 4">
            <a:extLst>
              <a:ext uri="{FF2B5EF4-FFF2-40B4-BE49-F238E27FC236}">
                <a16:creationId xmlns:a16="http://schemas.microsoft.com/office/drawing/2014/main" id="{F1033E32-E51C-B592-1F7B-54A7D4D347BF}"/>
              </a:ext>
            </a:extLst>
          </p:cNvPr>
          <p:cNvPicPr>
            <a:picLocks noGrp="1" noChangeAspect="1"/>
          </p:cNvPicPr>
          <p:nvPr>
            <p:ph idx="1"/>
          </p:nvPr>
        </p:nvPicPr>
        <p:blipFill>
          <a:blip r:embed="rId2"/>
          <a:stretch>
            <a:fillRect/>
          </a:stretch>
        </p:blipFill>
        <p:spPr>
          <a:xfrm>
            <a:off x="3566759" y="3463056"/>
            <a:ext cx="5058481" cy="1076475"/>
          </a:xfrm>
          <a:prstGeom prst="rect">
            <a:avLst/>
          </a:prstGeom>
        </p:spPr>
      </p:pic>
    </p:spTree>
    <p:extLst>
      <p:ext uri="{BB962C8B-B14F-4D97-AF65-F5344CB8AC3E}">
        <p14:creationId xmlns:p14="http://schemas.microsoft.com/office/powerpoint/2010/main" val="3093046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7AB89-2380-A347-699A-6013FF848CEB}"/>
              </a:ext>
            </a:extLst>
          </p:cNvPr>
          <p:cNvSpPr>
            <a:spLocks noGrp="1"/>
          </p:cNvSpPr>
          <p:nvPr>
            <p:ph type="title"/>
          </p:nvPr>
        </p:nvSpPr>
        <p:spPr/>
        <p:txBody>
          <a:bodyPr/>
          <a:lstStyle/>
          <a:p>
            <a:pPr algn="ctr"/>
            <a:r>
              <a:rPr lang="en-GB" dirty="0"/>
              <a:t>FileLogger Implementation</a:t>
            </a:r>
          </a:p>
        </p:txBody>
      </p:sp>
      <p:pic>
        <p:nvPicPr>
          <p:cNvPr id="5" name="Content Placeholder 4">
            <a:extLst>
              <a:ext uri="{FF2B5EF4-FFF2-40B4-BE49-F238E27FC236}">
                <a16:creationId xmlns:a16="http://schemas.microsoft.com/office/drawing/2014/main" id="{67588A9C-5985-463E-5140-041753A83B2F}"/>
              </a:ext>
            </a:extLst>
          </p:cNvPr>
          <p:cNvPicPr>
            <a:picLocks noGrp="1" noChangeAspect="1"/>
          </p:cNvPicPr>
          <p:nvPr>
            <p:ph idx="1"/>
          </p:nvPr>
        </p:nvPicPr>
        <p:blipFill>
          <a:blip r:embed="rId2"/>
          <a:stretch>
            <a:fillRect/>
          </a:stretch>
        </p:blipFill>
        <p:spPr>
          <a:xfrm>
            <a:off x="3137090" y="1825625"/>
            <a:ext cx="5917819" cy="4351338"/>
          </a:xfrm>
          <a:prstGeom prst="rect">
            <a:avLst/>
          </a:prstGeom>
        </p:spPr>
      </p:pic>
    </p:spTree>
    <p:extLst>
      <p:ext uri="{BB962C8B-B14F-4D97-AF65-F5344CB8AC3E}">
        <p14:creationId xmlns:p14="http://schemas.microsoft.com/office/powerpoint/2010/main" val="41917668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79DE2-5325-814A-CA45-8DAC1281307D}"/>
              </a:ext>
            </a:extLst>
          </p:cNvPr>
          <p:cNvSpPr>
            <a:spLocks noGrp="1"/>
          </p:cNvSpPr>
          <p:nvPr>
            <p:ph type="title"/>
          </p:nvPr>
        </p:nvSpPr>
        <p:spPr/>
        <p:txBody>
          <a:bodyPr/>
          <a:lstStyle/>
          <a:p>
            <a:pPr algn="ctr"/>
            <a:r>
              <a:rPr lang="en-GB" dirty="0"/>
              <a:t>Injected FileLogger</a:t>
            </a:r>
          </a:p>
        </p:txBody>
      </p:sp>
      <p:pic>
        <p:nvPicPr>
          <p:cNvPr id="5" name="Content Placeholder 4">
            <a:extLst>
              <a:ext uri="{FF2B5EF4-FFF2-40B4-BE49-F238E27FC236}">
                <a16:creationId xmlns:a16="http://schemas.microsoft.com/office/drawing/2014/main" id="{8A002555-65E8-1852-345E-48106EA8337C}"/>
              </a:ext>
            </a:extLst>
          </p:cNvPr>
          <p:cNvPicPr>
            <a:picLocks noGrp="1" noChangeAspect="1"/>
          </p:cNvPicPr>
          <p:nvPr>
            <p:ph idx="1"/>
          </p:nvPr>
        </p:nvPicPr>
        <p:blipFill>
          <a:blip r:embed="rId2"/>
          <a:stretch>
            <a:fillRect/>
          </a:stretch>
        </p:blipFill>
        <p:spPr>
          <a:xfrm>
            <a:off x="4028786" y="3582135"/>
            <a:ext cx="4134427" cy="838317"/>
          </a:xfrm>
          <a:prstGeom prst="rect">
            <a:avLst/>
          </a:prstGeom>
        </p:spPr>
      </p:pic>
    </p:spTree>
    <p:extLst>
      <p:ext uri="{BB962C8B-B14F-4D97-AF65-F5344CB8AC3E}">
        <p14:creationId xmlns:p14="http://schemas.microsoft.com/office/powerpoint/2010/main" val="357914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1656</TotalTime>
  <Words>879</Words>
  <Application>Microsoft Office PowerPoint</Application>
  <PresentationFormat>Widescreen</PresentationFormat>
  <Paragraphs>96</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Leave Booking System API</vt:lpstr>
      <vt:lpstr>High-level Architecture</vt:lpstr>
      <vt:lpstr>Security Requirements</vt:lpstr>
      <vt:lpstr>Staff Requirements</vt:lpstr>
      <vt:lpstr>Manager Requirements</vt:lpstr>
      <vt:lpstr>Admin Requirements</vt:lpstr>
      <vt:lpstr>Design Patterns Used</vt:lpstr>
      <vt:lpstr>State Pattern</vt:lpstr>
      <vt:lpstr>Leave Request States</vt:lpstr>
      <vt:lpstr>The LeaveRequestState Interface</vt:lpstr>
      <vt:lpstr>The Variations</vt:lpstr>
      <vt:lpstr>The LeaveRequest Entity Client Code</vt:lpstr>
      <vt:lpstr>Factory Pattern</vt:lpstr>
      <vt:lpstr>Factory Examples</vt:lpstr>
      <vt:lpstr>Factory Injection</vt:lpstr>
      <vt:lpstr>Use of Factory in a Request</vt:lpstr>
      <vt:lpstr>Repository Pattern</vt:lpstr>
      <vt:lpstr>Repository Pattern in Controller</vt:lpstr>
      <vt:lpstr>Actual Repository Code</vt:lpstr>
      <vt:lpstr>Dependency Injection</vt:lpstr>
      <vt:lpstr>Dependency Injection in the Index</vt:lpstr>
      <vt:lpstr>Chain of Responsibility Pattern</vt:lpstr>
      <vt:lpstr>High-level Architecture COR</vt:lpstr>
      <vt:lpstr>Middleware COR</vt:lpstr>
      <vt:lpstr>Router COR</vt:lpstr>
      <vt:lpstr>Strategy Pattern</vt:lpstr>
      <vt:lpstr>ILogger Polymorphism</vt:lpstr>
      <vt:lpstr>ILogger Interface</vt:lpstr>
      <vt:lpstr>FileLogger Implementation</vt:lpstr>
      <vt:lpstr>Injected FileLogger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 Gardiner</dc:creator>
  <cp:lastModifiedBy>Carl Gardiner</cp:lastModifiedBy>
  <cp:revision>88</cp:revision>
  <dcterms:created xsi:type="dcterms:W3CDTF">2026-05-20T09:54:25Z</dcterms:created>
  <dcterms:modified xsi:type="dcterms:W3CDTF">2026-05-21T13:31:23Z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cde893e-0867-4da1-b808-8ec67389fdff_Enabled">
    <vt:lpwstr>true</vt:lpwstr>
  </property>
  <property fmtid="{D5CDD505-2E9C-101B-9397-08002B2CF9AE}" pid="3" name="MSIP_Label_3cde893e-0867-4da1-b808-8ec67389fdff_SetDate">
    <vt:lpwstr>2026-05-20T09:54:43Z</vt:lpwstr>
  </property>
  <property fmtid="{D5CDD505-2E9C-101B-9397-08002B2CF9AE}" pid="4" name="MSIP_Label_3cde893e-0867-4da1-b808-8ec67389fdff_Method">
    <vt:lpwstr>Privileged</vt:lpwstr>
  </property>
  <property fmtid="{D5CDD505-2E9C-101B-9397-08002B2CF9AE}" pid="5" name="MSIP_Label_3cde893e-0867-4da1-b808-8ec67389fdff_Name">
    <vt:lpwstr>NON-OS</vt:lpwstr>
  </property>
  <property fmtid="{D5CDD505-2E9C-101B-9397-08002B2CF9AE}" pid="6" name="MSIP_Label_3cde893e-0867-4da1-b808-8ec67389fdff_SiteId">
    <vt:lpwstr>7988742d-c543-4b9a-87a9-10a7b354d289</vt:lpwstr>
  </property>
  <property fmtid="{D5CDD505-2E9C-101B-9397-08002B2CF9AE}" pid="7" name="MSIP_Label_3cde893e-0867-4da1-b808-8ec67389fdff_ActionId">
    <vt:lpwstr>df60983f-bd13-47fb-b475-27c676025e28</vt:lpwstr>
  </property>
  <property fmtid="{D5CDD505-2E9C-101B-9397-08002B2CF9AE}" pid="8" name="MSIP_Label_3cde893e-0867-4da1-b808-8ec67389fdff_ContentBits">
    <vt:lpwstr>0</vt:lpwstr>
  </property>
  <property fmtid="{D5CDD505-2E9C-101B-9397-08002B2CF9AE}" pid="9" name="MSIP_Label_3cde893e-0867-4da1-b808-8ec67389fdff_Tag">
    <vt:lpwstr>10, 0, 1, 1</vt:lpwstr>
  </property>
</Properties>
</file>