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57" r:id="rId3"/>
    <p:sldId id="275" r:id="rId4"/>
    <p:sldId id="268" r:id="rId5"/>
    <p:sldId id="288" r:id="rId6"/>
    <p:sldId id="258" r:id="rId7"/>
    <p:sldId id="259" r:id="rId8"/>
    <p:sldId id="260" r:id="rId9"/>
    <p:sldId id="261" r:id="rId10"/>
    <p:sldId id="262" r:id="rId11"/>
    <p:sldId id="284" r:id="rId12"/>
    <p:sldId id="269" r:id="rId13"/>
    <p:sldId id="263" r:id="rId14"/>
    <p:sldId id="264" r:id="rId15"/>
    <p:sldId id="265" r:id="rId16"/>
    <p:sldId id="266" r:id="rId17"/>
    <p:sldId id="267" r:id="rId18"/>
    <p:sldId id="270" r:id="rId19"/>
    <p:sldId id="272" r:id="rId20"/>
    <p:sldId id="271" r:id="rId21"/>
    <p:sldId id="273" r:id="rId22"/>
    <p:sldId id="274" r:id="rId23"/>
    <p:sldId id="276" r:id="rId24"/>
    <p:sldId id="285" r:id="rId25"/>
    <p:sldId id="286" r:id="rId26"/>
    <p:sldId id="277" r:id="rId27"/>
    <p:sldId id="278" r:id="rId28"/>
    <p:sldId id="287" r:id="rId29"/>
    <p:sldId id="279" r:id="rId30"/>
    <p:sldId id="280" r:id="rId31"/>
    <p:sldId id="281" r:id="rId32"/>
    <p:sldId id="282" r:id="rId33"/>
    <p:sldId id="289" r:id="rId34"/>
    <p:sldId id="28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EC3599-A55D-4CE1-8DF9-1B42A5954EB7}" type="datetimeFigureOut">
              <a:rPr lang="en-GB" smtClean="0"/>
              <a:t>12/01/2026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7DF9CB-B452-4254-AFF1-81BD54AAB937}" type="slidenum">
              <a:rPr lang="en-GB" smtClean="0"/>
              <a:t>‹#›</a:t>
            </a:fld>
            <a:endParaRPr lang="en-GB"/>
          </a:p>
        </p:txBody>
      </p:sp>
    </p:spTree>
    <p:extLst>
      <p:ext uri="{BB962C8B-B14F-4D97-AF65-F5344CB8AC3E}">
        <p14:creationId xmlns:p14="http://schemas.microsoft.com/office/powerpoint/2010/main" val="2157594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is a mock up of how we store our decision logs at our organisation: With the decision, the reason for the decision, when it was initially made, when it was reviewed and if it is currently in effect.</a:t>
            </a:r>
          </a:p>
        </p:txBody>
      </p:sp>
      <p:sp>
        <p:nvSpPr>
          <p:cNvPr id="4" name="Slide Number Placeholder 3"/>
          <p:cNvSpPr>
            <a:spLocks noGrp="1"/>
          </p:cNvSpPr>
          <p:nvPr>
            <p:ph type="sldNum" sz="quarter" idx="5"/>
          </p:nvPr>
        </p:nvSpPr>
        <p:spPr/>
        <p:txBody>
          <a:bodyPr/>
          <a:lstStyle/>
          <a:p>
            <a:fld id="{557DF9CB-B452-4254-AFF1-81BD54AAB937}" type="slidenum">
              <a:rPr lang="en-GB" smtClean="0"/>
              <a:t>3</a:t>
            </a:fld>
            <a:endParaRPr lang="en-GB"/>
          </a:p>
        </p:txBody>
      </p:sp>
    </p:spTree>
    <p:extLst>
      <p:ext uri="{BB962C8B-B14F-4D97-AF65-F5344CB8AC3E}">
        <p14:creationId xmlns:p14="http://schemas.microsoft.com/office/powerpoint/2010/main" val="983497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was based on a test run, hence the 12:31 timing. Only the out of date and current decision was alerted, the others were ignored</a:t>
            </a:r>
          </a:p>
        </p:txBody>
      </p:sp>
      <p:sp>
        <p:nvSpPr>
          <p:cNvPr id="4" name="Slide Number Placeholder 3"/>
          <p:cNvSpPr>
            <a:spLocks noGrp="1"/>
          </p:cNvSpPr>
          <p:nvPr>
            <p:ph type="sldNum" sz="quarter" idx="5"/>
          </p:nvPr>
        </p:nvSpPr>
        <p:spPr/>
        <p:txBody>
          <a:bodyPr/>
          <a:lstStyle/>
          <a:p>
            <a:fld id="{557DF9CB-B452-4254-AFF1-81BD54AAB937}" type="slidenum">
              <a:rPr lang="en-GB" smtClean="0"/>
              <a:t>26</a:t>
            </a:fld>
            <a:endParaRPr lang="en-GB"/>
          </a:p>
        </p:txBody>
      </p:sp>
    </p:spTree>
    <p:extLst>
      <p:ext uri="{BB962C8B-B14F-4D97-AF65-F5344CB8AC3E}">
        <p14:creationId xmlns:p14="http://schemas.microsoft.com/office/powerpoint/2010/main" val="231025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Difference between the background and foreground colours used on the Microsoft Teams Card. Anything above </a:t>
            </a:r>
            <a:r>
              <a:rPr lang="en-GB" sz="1200" b="0" i="0" kern="1200" dirty="0">
                <a:solidFill>
                  <a:schemeClr val="tx1"/>
                </a:solidFill>
                <a:effectLst/>
                <a:latin typeface="+mn-lt"/>
                <a:ea typeface="+mn-ea"/>
                <a:cs typeface="+mn-cs"/>
              </a:rPr>
              <a:t>4.5:1 for normal text is </a:t>
            </a:r>
            <a:r>
              <a:rPr lang="en-GB" sz="1200" b="0" i="0" kern="1200">
                <a:solidFill>
                  <a:schemeClr val="tx1"/>
                </a:solidFill>
                <a:effectLst/>
                <a:latin typeface="+mn-lt"/>
                <a:ea typeface="+mn-ea"/>
                <a:cs typeface="+mn-cs"/>
              </a:rPr>
              <a:t>compliant with WCAG</a:t>
            </a:r>
          </a:p>
          <a:p>
            <a:endParaRPr lang="en-GB" dirty="0"/>
          </a:p>
        </p:txBody>
      </p:sp>
      <p:sp>
        <p:nvSpPr>
          <p:cNvPr id="4" name="Slide Number Placeholder 3"/>
          <p:cNvSpPr>
            <a:spLocks noGrp="1"/>
          </p:cNvSpPr>
          <p:nvPr>
            <p:ph type="sldNum" sz="quarter" idx="5"/>
          </p:nvPr>
        </p:nvSpPr>
        <p:spPr/>
        <p:txBody>
          <a:bodyPr/>
          <a:lstStyle/>
          <a:p>
            <a:fld id="{557DF9CB-B452-4254-AFF1-81BD54AAB937}" type="slidenum">
              <a:rPr lang="en-GB" smtClean="0"/>
              <a:t>28</a:t>
            </a:fld>
            <a:endParaRPr lang="en-GB"/>
          </a:p>
        </p:txBody>
      </p:sp>
    </p:spTree>
    <p:extLst>
      <p:ext uri="{BB962C8B-B14F-4D97-AF65-F5344CB8AC3E}">
        <p14:creationId xmlns:p14="http://schemas.microsoft.com/office/powerpoint/2010/main" val="2818201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Made on Monday. The reason for the 06:59 was due to backlog of other updates, and that there is no guarantee it will run immediately, unless using Premium Connectors. Still, as the runtime was very short, the given space of from 6 till 9 still works.</a:t>
            </a:r>
          </a:p>
        </p:txBody>
      </p:sp>
      <p:sp>
        <p:nvSpPr>
          <p:cNvPr id="4" name="Slide Number Placeholder 3"/>
          <p:cNvSpPr>
            <a:spLocks noGrp="1"/>
          </p:cNvSpPr>
          <p:nvPr>
            <p:ph type="sldNum" sz="quarter" idx="5"/>
          </p:nvPr>
        </p:nvSpPr>
        <p:spPr/>
        <p:txBody>
          <a:bodyPr/>
          <a:lstStyle/>
          <a:p>
            <a:fld id="{557DF9CB-B452-4254-AFF1-81BD54AAB937}" type="slidenum">
              <a:rPr lang="en-GB" smtClean="0"/>
              <a:t>29</a:t>
            </a:fld>
            <a:endParaRPr lang="en-GB"/>
          </a:p>
        </p:txBody>
      </p:sp>
    </p:spTree>
    <p:extLst>
      <p:ext uri="{BB962C8B-B14F-4D97-AF65-F5344CB8AC3E}">
        <p14:creationId xmlns:p14="http://schemas.microsoft.com/office/powerpoint/2010/main" val="1064294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Blockbuster was ousted as the delivery method became redundant in the age of streaming. </a:t>
            </a:r>
            <a:r>
              <a:rPr lang="en-GB" dirty="0" err="1"/>
              <a:t>MySpace</a:t>
            </a:r>
            <a:r>
              <a:rPr lang="en-GB" dirty="0"/>
              <a:t> failed to adapt to smartphones and mobile technology, so lost the largest social media from Netflix. Kodak refused to embrace digital photography, so lost out to Canon and Nikon.</a:t>
            </a:r>
          </a:p>
        </p:txBody>
      </p:sp>
      <p:sp>
        <p:nvSpPr>
          <p:cNvPr id="4" name="Slide Number Placeholder 3"/>
          <p:cNvSpPr>
            <a:spLocks noGrp="1"/>
          </p:cNvSpPr>
          <p:nvPr>
            <p:ph type="sldNum" sz="quarter" idx="5"/>
          </p:nvPr>
        </p:nvSpPr>
        <p:spPr/>
        <p:txBody>
          <a:bodyPr/>
          <a:lstStyle/>
          <a:p>
            <a:fld id="{557DF9CB-B452-4254-AFF1-81BD54AAB937}" type="slidenum">
              <a:rPr lang="en-GB" smtClean="0"/>
              <a:t>33</a:t>
            </a:fld>
            <a:endParaRPr lang="en-GB"/>
          </a:p>
        </p:txBody>
      </p:sp>
    </p:spTree>
    <p:extLst>
      <p:ext uri="{BB962C8B-B14F-4D97-AF65-F5344CB8AC3E}">
        <p14:creationId xmlns:p14="http://schemas.microsoft.com/office/powerpoint/2010/main" val="29129684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D9A28-3E57-9C25-B144-146CAB163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47DEFE6-AC67-0D4B-D4C8-96CB04CF0A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58F1D73-A0B4-0AC7-5CF9-938F38FB00A1}"/>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5" name="Footer Placeholder 4">
            <a:extLst>
              <a:ext uri="{FF2B5EF4-FFF2-40B4-BE49-F238E27FC236}">
                <a16:creationId xmlns:a16="http://schemas.microsoft.com/office/drawing/2014/main" id="{0954A419-8DDC-7164-8714-8B9B30370EF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5D1B9BD-5D67-3C1D-578C-4BA5BA935169}"/>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40449619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1FAF7-A55D-EB07-4FFD-45C7AF98EB2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ECA741-6C33-5564-6FCC-E229DFB218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D86C311-BCA9-BD25-B12D-36E90291EA78}"/>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5" name="Footer Placeholder 4">
            <a:extLst>
              <a:ext uri="{FF2B5EF4-FFF2-40B4-BE49-F238E27FC236}">
                <a16:creationId xmlns:a16="http://schemas.microsoft.com/office/drawing/2014/main" id="{F12DFCA4-9AA2-7148-FA28-975B1CADA53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894405-5A71-AD1E-F60D-B59D567E1245}"/>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628993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8F004-A48C-3042-3625-1BB8D6D55B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1BF466F-65A0-C9BE-73AF-F14AB8D6A55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9017EA-1914-90C0-DC44-08077D86C068}"/>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5" name="Footer Placeholder 4">
            <a:extLst>
              <a:ext uri="{FF2B5EF4-FFF2-40B4-BE49-F238E27FC236}">
                <a16:creationId xmlns:a16="http://schemas.microsoft.com/office/drawing/2014/main" id="{076559F4-B775-5598-4C52-E24AC4887F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EAA9592-1594-3780-257B-0FBA783B94C8}"/>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245072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2E6F9-D96D-BADB-AC0D-4BF8DEF96A8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609CEA-ADCB-42EF-F386-A500249DF4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0A23F48-8686-9944-7A81-642B16728B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29C65E5-0AFC-5E92-5AE9-F31D2E4955B9}"/>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6" name="Footer Placeholder 5">
            <a:extLst>
              <a:ext uri="{FF2B5EF4-FFF2-40B4-BE49-F238E27FC236}">
                <a16:creationId xmlns:a16="http://schemas.microsoft.com/office/drawing/2014/main" id="{253ACA70-9DD9-B90E-AF21-9B7E26D8FD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D6297D-871F-B6B1-F39F-62EF2C536BC0}"/>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1595170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17270-0301-5C3B-2530-A2BC7294FB6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FE87579-750A-85E5-19C9-D0176BA975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4F2294-0D60-00A5-8DF0-01BFD406B4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CF2BD67-06F4-2963-B5AB-2F3739A3CB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2AFAA5-11FD-C0DE-47B2-33259C8CF9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0943E7D-782F-098E-FBE8-19D84C7C2DE2}"/>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8" name="Footer Placeholder 7">
            <a:extLst>
              <a:ext uri="{FF2B5EF4-FFF2-40B4-BE49-F238E27FC236}">
                <a16:creationId xmlns:a16="http://schemas.microsoft.com/office/drawing/2014/main" id="{F873C056-C673-385E-8B8D-ED5D2D779F4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E7B17A6-4B7C-F13B-AACD-EAEFCA428A82}"/>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1547539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9510A-9DEF-BE57-E261-B45B866B6F2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C1BA3CA-C9BA-A783-B61B-9CF62B54D678}"/>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4" name="Footer Placeholder 3">
            <a:extLst>
              <a:ext uri="{FF2B5EF4-FFF2-40B4-BE49-F238E27FC236}">
                <a16:creationId xmlns:a16="http://schemas.microsoft.com/office/drawing/2014/main" id="{D03E681E-FB56-64E3-3652-FC8ADF46739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5A5B265-89DF-F478-AB27-0433CB919ABD}"/>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424909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9EFC43-1768-B438-79F7-F139A7B5E092}"/>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3" name="Footer Placeholder 2">
            <a:extLst>
              <a:ext uri="{FF2B5EF4-FFF2-40B4-BE49-F238E27FC236}">
                <a16:creationId xmlns:a16="http://schemas.microsoft.com/office/drawing/2014/main" id="{1AD269D7-6CA9-8E5C-2F83-027F93294B3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2881FB8-0D46-A083-D9C4-ACE2E25667C3}"/>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4248766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E84B8-FD78-47C7-71B8-2D356592CF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13EAB38-0925-3D24-2B54-D7358C532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1F21D42-2C76-727F-7987-5DAC82E25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7CB800-3336-A54A-0A41-E12436CE0D05}"/>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6" name="Footer Placeholder 5">
            <a:extLst>
              <a:ext uri="{FF2B5EF4-FFF2-40B4-BE49-F238E27FC236}">
                <a16:creationId xmlns:a16="http://schemas.microsoft.com/office/drawing/2014/main" id="{4260965E-E091-BB23-E951-2FF4B842F2A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56C5DA7-D81E-0F3D-6E09-7557933809BD}"/>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413119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4FA83-1574-2C2E-1D30-52C4FBDBF8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E596CDA-053D-DFDB-80E6-4D582D7D44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A4C128-BB32-90E3-30E2-5585DA3F1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E232C8-528A-13DC-CBF0-CD14F1190D46}"/>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6" name="Footer Placeholder 5">
            <a:extLst>
              <a:ext uri="{FF2B5EF4-FFF2-40B4-BE49-F238E27FC236}">
                <a16:creationId xmlns:a16="http://schemas.microsoft.com/office/drawing/2014/main" id="{62B4C9A6-7965-C226-48F7-FCB71BA70FB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57191C-B2B5-13D3-F093-D69D646A5E87}"/>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2922671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8271E-6B63-8858-102F-E6A584992CB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07153D5-94B5-9E10-58DA-C2DF98DF1F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AB3630F-661A-5388-11A6-2C7FFA2C05D1}"/>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5" name="Footer Placeholder 4">
            <a:extLst>
              <a:ext uri="{FF2B5EF4-FFF2-40B4-BE49-F238E27FC236}">
                <a16:creationId xmlns:a16="http://schemas.microsoft.com/office/drawing/2014/main" id="{C4CC9495-E07C-EC6C-BDF4-AED1B523A1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13780A-16E5-E94A-2FB5-60822F9CF343}"/>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1271447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EBC544-EC7C-356E-CAA1-75D20DC301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16F765D-181D-367D-98C7-04D48017EB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9D2EA6-2801-59C9-D0FA-6A596C699811}"/>
              </a:ext>
            </a:extLst>
          </p:cNvPr>
          <p:cNvSpPr>
            <a:spLocks noGrp="1"/>
          </p:cNvSpPr>
          <p:nvPr>
            <p:ph type="dt" sz="half" idx="10"/>
          </p:nvPr>
        </p:nvSpPr>
        <p:spPr/>
        <p:txBody>
          <a:bodyPr/>
          <a:lstStyle/>
          <a:p>
            <a:fld id="{A38BC8AA-0D3D-4CEF-9C98-C9A7C6E070A5}" type="datetimeFigureOut">
              <a:rPr lang="en-GB" smtClean="0"/>
              <a:t>12/01/2026</a:t>
            </a:fld>
            <a:endParaRPr lang="en-GB"/>
          </a:p>
        </p:txBody>
      </p:sp>
      <p:sp>
        <p:nvSpPr>
          <p:cNvPr id="5" name="Footer Placeholder 4">
            <a:extLst>
              <a:ext uri="{FF2B5EF4-FFF2-40B4-BE49-F238E27FC236}">
                <a16:creationId xmlns:a16="http://schemas.microsoft.com/office/drawing/2014/main" id="{ABE21023-DFEA-81BF-A2C7-4F5535F484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B8EEA3-E286-50DD-7D45-A17F521E0C39}"/>
              </a:ext>
            </a:extLst>
          </p:cNvPr>
          <p:cNvSpPr>
            <a:spLocks noGrp="1"/>
          </p:cNvSpPr>
          <p:nvPr>
            <p:ph type="sldNum" sz="quarter" idx="12"/>
          </p:nvPr>
        </p:nvSpPr>
        <p:spPr/>
        <p:txBody>
          <a:bodyPr/>
          <a:lstStyle/>
          <a:p>
            <a:fld id="{D3D5461F-C87F-4A44-B706-E15C58302E3D}" type="slidenum">
              <a:rPr lang="en-GB" smtClean="0"/>
              <a:t>‹#›</a:t>
            </a:fld>
            <a:endParaRPr lang="en-GB"/>
          </a:p>
        </p:txBody>
      </p:sp>
    </p:spTree>
    <p:extLst>
      <p:ext uri="{BB962C8B-B14F-4D97-AF65-F5344CB8AC3E}">
        <p14:creationId xmlns:p14="http://schemas.microsoft.com/office/powerpoint/2010/main" val="3325902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FEC6EE-8F11-84F8-D2C7-B014F348B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1ECD25B-D232-9820-A392-7E4A1C3E4F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306C1C3-C815-8660-7388-5B517A3F56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38BC8AA-0D3D-4CEF-9C98-C9A7C6E070A5}" type="datetimeFigureOut">
              <a:rPr lang="en-GB" smtClean="0"/>
              <a:t>12/01/2026</a:t>
            </a:fld>
            <a:endParaRPr lang="en-GB"/>
          </a:p>
        </p:txBody>
      </p:sp>
      <p:sp>
        <p:nvSpPr>
          <p:cNvPr id="5" name="Footer Placeholder 4">
            <a:extLst>
              <a:ext uri="{FF2B5EF4-FFF2-40B4-BE49-F238E27FC236}">
                <a16:creationId xmlns:a16="http://schemas.microsoft.com/office/drawing/2014/main" id="{A6913AC2-E6CD-E5BD-EB3D-A8738A76EC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717776D-1AE6-EC20-4EAE-CD82302CE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3D5461F-C87F-4A44-B706-E15C58302E3D}" type="slidenum">
              <a:rPr lang="en-GB" smtClean="0"/>
              <a:t>‹#›</a:t>
            </a:fld>
            <a:endParaRPr lang="en-GB"/>
          </a:p>
        </p:txBody>
      </p:sp>
    </p:spTree>
    <p:extLst>
      <p:ext uri="{BB962C8B-B14F-4D97-AF65-F5344CB8AC3E}">
        <p14:creationId xmlns:p14="http://schemas.microsoft.com/office/powerpoint/2010/main" val="4005877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EE24D-4931-4A9A-DBDC-06E8741D40DC}"/>
              </a:ext>
            </a:extLst>
          </p:cNvPr>
          <p:cNvSpPr>
            <a:spLocks noGrp="1"/>
          </p:cNvSpPr>
          <p:nvPr>
            <p:ph type="ctrTitle"/>
          </p:nvPr>
        </p:nvSpPr>
        <p:spPr/>
        <p:txBody>
          <a:bodyPr/>
          <a:lstStyle/>
          <a:p>
            <a:r>
              <a:rPr lang="en-GB" dirty="0"/>
              <a:t>Decision Log Monitor Review</a:t>
            </a:r>
          </a:p>
        </p:txBody>
      </p:sp>
      <p:sp>
        <p:nvSpPr>
          <p:cNvPr id="3" name="Subtitle 2">
            <a:extLst>
              <a:ext uri="{FF2B5EF4-FFF2-40B4-BE49-F238E27FC236}">
                <a16:creationId xmlns:a16="http://schemas.microsoft.com/office/drawing/2014/main" id="{C89C2D0A-72EF-6891-54DF-F62F95F36180}"/>
              </a:ext>
            </a:extLst>
          </p:cNvPr>
          <p:cNvSpPr>
            <a:spLocks noGrp="1"/>
          </p:cNvSpPr>
          <p:nvPr>
            <p:ph type="subTitle" idx="1"/>
          </p:nvPr>
        </p:nvSpPr>
        <p:spPr/>
        <p:txBody>
          <a:bodyPr/>
          <a:lstStyle/>
          <a:p>
            <a:r>
              <a:rPr lang="en-GB" dirty="0"/>
              <a:t>By Carl Gardiner</a:t>
            </a:r>
          </a:p>
        </p:txBody>
      </p:sp>
    </p:spTree>
    <p:extLst>
      <p:ext uri="{BB962C8B-B14F-4D97-AF65-F5344CB8AC3E}">
        <p14:creationId xmlns:p14="http://schemas.microsoft.com/office/powerpoint/2010/main" val="1125445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0EE87-28DD-F490-5105-D5AB704A5D31}"/>
              </a:ext>
            </a:extLst>
          </p:cNvPr>
          <p:cNvSpPr>
            <a:spLocks noGrp="1"/>
          </p:cNvSpPr>
          <p:nvPr>
            <p:ph type="title"/>
          </p:nvPr>
        </p:nvSpPr>
        <p:spPr/>
        <p:txBody>
          <a:bodyPr/>
          <a:lstStyle/>
          <a:p>
            <a:pPr algn="ctr"/>
            <a:r>
              <a:rPr lang="en-GB" dirty="0"/>
              <a:t>Decision Logs</a:t>
            </a:r>
          </a:p>
        </p:txBody>
      </p:sp>
      <p:sp>
        <p:nvSpPr>
          <p:cNvPr id="3" name="Content Placeholder 2">
            <a:extLst>
              <a:ext uri="{FF2B5EF4-FFF2-40B4-BE49-F238E27FC236}">
                <a16:creationId xmlns:a16="http://schemas.microsoft.com/office/drawing/2014/main" id="{E8937C53-6C68-2761-B8E5-E0469927AB01}"/>
              </a:ext>
            </a:extLst>
          </p:cNvPr>
          <p:cNvSpPr>
            <a:spLocks noGrp="1"/>
          </p:cNvSpPr>
          <p:nvPr>
            <p:ph idx="1"/>
          </p:nvPr>
        </p:nvSpPr>
        <p:spPr/>
        <p:txBody>
          <a:bodyPr/>
          <a:lstStyle/>
          <a:p>
            <a:r>
              <a:rPr lang="en-GB" dirty="0"/>
              <a:t>As part of the Software Development Life Cycle (SDLC) at our organisation, we periodically make strategic decisions that significantly influence the behaviour, infrastructure, maintenance, development, and security of our software systems. </a:t>
            </a:r>
          </a:p>
          <a:p>
            <a:r>
              <a:rPr lang="en-GB" dirty="0"/>
              <a:t>Due to changing requirements and contexts, reasons that previous decisions were made are often out of date or no longer aligned with the organisation’s broader strategy and goals. </a:t>
            </a:r>
          </a:p>
        </p:txBody>
      </p:sp>
    </p:spTree>
    <p:extLst>
      <p:ext uri="{BB962C8B-B14F-4D97-AF65-F5344CB8AC3E}">
        <p14:creationId xmlns:p14="http://schemas.microsoft.com/office/powerpoint/2010/main" val="126186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6DCA0-B3D0-C642-9823-F5034FD2C6D6}"/>
              </a:ext>
            </a:extLst>
          </p:cNvPr>
          <p:cNvSpPr>
            <a:spLocks noGrp="1"/>
          </p:cNvSpPr>
          <p:nvPr>
            <p:ph type="title"/>
          </p:nvPr>
        </p:nvSpPr>
        <p:spPr/>
        <p:txBody>
          <a:bodyPr/>
          <a:lstStyle/>
          <a:p>
            <a:pPr algn="ctr"/>
            <a:r>
              <a:rPr lang="en-GB" dirty="0"/>
              <a:t>SharePoint List of Decision Logs</a:t>
            </a:r>
          </a:p>
        </p:txBody>
      </p:sp>
      <p:pic>
        <p:nvPicPr>
          <p:cNvPr id="5" name="Content Placeholder 4">
            <a:extLst>
              <a:ext uri="{FF2B5EF4-FFF2-40B4-BE49-F238E27FC236}">
                <a16:creationId xmlns:a16="http://schemas.microsoft.com/office/drawing/2014/main" id="{FEABD15C-F447-BB76-9655-61D1BF46AAC6}"/>
              </a:ext>
            </a:extLst>
          </p:cNvPr>
          <p:cNvPicPr>
            <a:picLocks noGrp="1" noChangeAspect="1"/>
          </p:cNvPicPr>
          <p:nvPr>
            <p:ph idx="1"/>
          </p:nvPr>
        </p:nvPicPr>
        <p:blipFill>
          <a:blip r:embed="rId3"/>
          <a:stretch>
            <a:fillRect/>
          </a:stretch>
        </p:blipFill>
        <p:spPr>
          <a:xfrm>
            <a:off x="905577" y="1690688"/>
            <a:ext cx="10515600" cy="3480934"/>
          </a:xfrm>
          <a:prstGeom prst="rect">
            <a:avLst/>
          </a:prstGeom>
        </p:spPr>
      </p:pic>
    </p:spTree>
    <p:extLst>
      <p:ext uri="{BB962C8B-B14F-4D97-AF65-F5344CB8AC3E}">
        <p14:creationId xmlns:p14="http://schemas.microsoft.com/office/powerpoint/2010/main" val="203327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7D307-637B-72BB-03EE-54219FD9ED6A}"/>
              </a:ext>
            </a:extLst>
          </p:cNvPr>
          <p:cNvSpPr>
            <a:spLocks noGrp="1"/>
          </p:cNvSpPr>
          <p:nvPr>
            <p:ph type="title"/>
          </p:nvPr>
        </p:nvSpPr>
        <p:spPr/>
        <p:txBody>
          <a:bodyPr/>
          <a:lstStyle/>
          <a:p>
            <a:pPr algn="ctr"/>
            <a:r>
              <a:rPr lang="en-GB" dirty="0"/>
              <a:t>Initial Activity Flow Diagram</a:t>
            </a:r>
          </a:p>
        </p:txBody>
      </p:sp>
      <p:pic>
        <p:nvPicPr>
          <p:cNvPr id="4" name="Content Placeholder 3" descr="A diagram of a flowchart&#10;&#10;AI-generated content may be incorrect.">
            <a:extLst>
              <a:ext uri="{FF2B5EF4-FFF2-40B4-BE49-F238E27FC236}">
                <a16:creationId xmlns:a16="http://schemas.microsoft.com/office/drawing/2014/main" id="{21AE8D0C-CA6B-BC03-339D-6EEF0B41834C}"/>
              </a:ext>
            </a:extLst>
          </p:cNvPr>
          <p:cNvPicPr>
            <a:picLocks noGrp="1" noChangeAspect="1"/>
          </p:cNvPicPr>
          <p:nvPr>
            <p:ph idx="1"/>
          </p:nvPr>
        </p:nvPicPr>
        <p:blipFill>
          <a:blip r:embed="rId2"/>
          <a:stretch>
            <a:fillRect/>
          </a:stretch>
        </p:blipFill>
        <p:spPr>
          <a:xfrm>
            <a:off x="838200" y="1959881"/>
            <a:ext cx="10515600" cy="4082825"/>
          </a:xfrm>
          <a:prstGeom prst="rect">
            <a:avLst/>
          </a:prstGeom>
        </p:spPr>
      </p:pic>
    </p:spTree>
    <p:extLst>
      <p:ext uri="{BB962C8B-B14F-4D97-AF65-F5344CB8AC3E}">
        <p14:creationId xmlns:p14="http://schemas.microsoft.com/office/powerpoint/2010/main" val="406185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6B3FD-CA0F-7E57-648C-ED9E95B9B8B9}"/>
              </a:ext>
            </a:extLst>
          </p:cNvPr>
          <p:cNvSpPr>
            <a:spLocks noGrp="1"/>
          </p:cNvSpPr>
          <p:nvPr>
            <p:ph type="title"/>
          </p:nvPr>
        </p:nvSpPr>
        <p:spPr/>
        <p:txBody>
          <a:bodyPr/>
          <a:lstStyle/>
          <a:p>
            <a:pPr algn="ctr"/>
            <a:r>
              <a:rPr lang="en-GB" dirty="0"/>
              <a:t>The Problem</a:t>
            </a:r>
          </a:p>
        </p:txBody>
      </p:sp>
      <p:sp>
        <p:nvSpPr>
          <p:cNvPr id="3" name="Content Placeholder 2">
            <a:extLst>
              <a:ext uri="{FF2B5EF4-FFF2-40B4-BE49-F238E27FC236}">
                <a16:creationId xmlns:a16="http://schemas.microsoft.com/office/drawing/2014/main" id="{B2A762F3-C78A-88FF-35E6-E0394CE7FC3E}"/>
              </a:ext>
            </a:extLst>
          </p:cNvPr>
          <p:cNvSpPr>
            <a:spLocks noGrp="1"/>
          </p:cNvSpPr>
          <p:nvPr>
            <p:ph idx="1"/>
          </p:nvPr>
        </p:nvSpPr>
        <p:spPr/>
        <p:txBody>
          <a:bodyPr/>
          <a:lstStyle/>
          <a:p>
            <a:r>
              <a:rPr lang="en-GB" dirty="0"/>
              <a:t>Decisions are often not reviewed regularly due to other work taking up the time of engineers or solution architects</a:t>
            </a:r>
          </a:p>
          <a:p>
            <a:r>
              <a:rPr lang="en-GB" dirty="0"/>
              <a:t>Decision reviews require the engineers or solution architects to manually check the decision logs to see which decisions are out of date, and there is no agreed upon timeframe for what is considered ‘out-of-date’</a:t>
            </a:r>
          </a:p>
        </p:txBody>
      </p:sp>
    </p:spTree>
    <p:extLst>
      <p:ext uri="{BB962C8B-B14F-4D97-AF65-F5344CB8AC3E}">
        <p14:creationId xmlns:p14="http://schemas.microsoft.com/office/powerpoint/2010/main" val="3635750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60FCB-3DFE-CD64-2CA4-0C85F9928E85}"/>
              </a:ext>
            </a:extLst>
          </p:cNvPr>
          <p:cNvSpPr>
            <a:spLocks noGrp="1"/>
          </p:cNvSpPr>
          <p:nvPr>
            <p:ph type="title"/>
          </p:nvPr>
        </p:nvSpPr>
        <p:spPr/>
        <p:txBody>
          <a:bodyPr/>
          <a:lstStyle/>
          <a:p>
            <a:pPr algn="ctr"/>
            <a:r>
              <a:rPr lang="en-GB" dirty="0"/>
              <a:t>Requirements Gathering - Chief Technical Officer</a:t>
            </a:r>
          </a:p>
        </p:txBody>
      </p:sp>
      <p:sp>
        <p:nvSpPr>
          <p:cNvPr id="3" name="Content Placeholder 2">
            <a:extLst>
              <a:ext uri="{FF2B5EF4-FFF2-40B4-BE49-F238E27FC236}">
                <a16:creationId xmlns:a16="http://schemas.microsoft.com/office/drawing/2014/main" id="{689BCCA0-0B7D-45C7-A106-0E463C106209}"/>
              </a:ext>
            </a:extLst>
          </p:cNvPr>
          <p:cNvSpPr>
            <a:spLocks noGrp="1"/>
          </p:cNvSpPr>
          <p:nvPr>
            <p:ph idx="1"/>
          </p:nvPr>
        </p:nvSpPr>
        <p:spPr/>
        <p:txBody>
          <a:bodyPr/>
          <a:lstStyle/>
          <a:p>
            <a:r>
              <a:rPr lang="en-GB" dirty="0"/>
              <a:t>“We want to ensure that our technical decisions line up with our goals directly. We also want to be an organisation that is looking towards the future and need to be attentive to what larger tech companies are doing so we do not get left behind technically.”</a:t>
            </a:r>
          </a:p>
        </p:txBody>
      </p:sp>
    </p:spTree>
    <p:extLst>
      <p:ext uri="{BB962C8B-B14F-4D97-AF65-F5344CB8AC3E}">
        <p14:creationId xmlns:p14="http://schemas.microsoft.com/office/powerpoint/2010/main" val="243150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9250B-1BDB-958B-9E53-A90AFF721C69}"/>
              </a:ext>
            </a:extLst>
          </p:cNvPr>
          <p:cNvSpPr>
            <a:spLocks noGrp="1"/>
          </p:cNvSpPr>
          <p:nvPr>
            <p:ph type="title"/>
          </p:nvPr>
        </p:nvSpPr>
        <p:spPr/>
        <p:txBody>
          <a:bodyPr/>
          <a:lstStyle/>
          <a:p>
            <a:pPr algn="ctr"/>
            <a:r>
              <a:rPr lang="en-GB" dirty="0"/>
              <a:t>Requirements Gathering - Senior Engineer</a:t>
            </a:r>
          </a:p>
        </p:txBody>
      </p:sp>
      <p:sp>
        <p:nvSpPr>
          <p:cNvPr id="3" name="Content Placeholder 2">
            <a:extLst>
              <a:ext uri="{FF2B5EF4-FFF2-40B4-BE49-F238E27FC236}">
                <a16:creationId xmlns:a16="http://schemas.microsoft.com/office/drawing/2014/main" id="{C71FEA09-502D-D711-5793-E6F8D476BEF8}"/>
              </a:ext>
            </a:extLst>
          </p:cNvPr>
          <p:cNvSpPr>
            <a:spLocks noGrp="1"/>
          </p:cNvSpPr>
          <p:nvPr>
            <p:ph idx="1"/>
          </p:nvPr>
        </p:nvSpPr>
        <p:spPr/>
        <p:txBody>
          <a:bodyPr/>
          <a:lstStyle/>
          <a:p>
            <a:r>
              <a:rPr lang="en-GB" dirty="0"/>
              <a:t>“Decisions made by previous engineers or solution architects often leave me baffled and lead to technical debt. Knowing when to review decisions and reviewing them periodically could help prevent this.”</a:t>
            </a:r>
          </a:p>
        </p:txBody>
      </p:sp>
    </p:spTree>
    <p:extLst>
      <p:ext uri="{BB962C8B-B14F-4D97-AF65-F5344CB8AC3E}">
        <p14:creationId xmlns:p14="http://schemas.microsoft.com/office/powerpoint/2010/main" val="1134643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9FF32-C89E-CB17-50E5-392DBF0C7FD0}"/>
              </a:ext>
            </a:extLst>
          </p:cNvPr>
          <p:cNvSpPr>
            <a:spLocks noGrp="1"/>
          </p:cNvSpPr>
          <p:nvPr>
            <p:ph type="title"/>
          </p:nvPr>
        </p:nvSpPr>
        <p:spPr/>
        <p:txBody>
          <a:bodyPr/>
          <a:lstStyle/>
          <a:p>
            <a:pPr algn="ctr"/>
            <a:r>
              <a:rPr lang="en-GB" dirty="0"/>
              <a:t>Requirements Gathering - Engineer</a:t>
            </a:r>
          </a:p>
        </p:txBody>
      </p:sp>
      <p:sp>
        <p:nvSpPr>
          <p:cNvPr id="3" name="Content Placeholder 2">
            <a:extLst>
              <a:ext uri="{FF2B5EF4-FFF2-40B4-BE49-F238E27FC236}">
                <a16:creationId xmlns:a16="http://schemas.microsoft.com/office/drawing/2014/main" id="{82CD6DB7-5202-FF61-F69F-642F40A2D06C}"/>
              </a:ext>
            </a:extLst>
          </p:cNvPr>
          <p:cNvSpPr>
            <a:spLocks noGrp="1"/>
          </p:cNvSpPr>
          <p:nvPr>
            <p:ph idx="1"/>
          </p:nvPr>
        </p:nvSpPr>
        <p:spPr/>
        <p:txBody>
          <a:bodyPr/>
          <a:lstStyle/>
          <a:p>
            <a:r>
              <a:rPr lang="en-GB" dirty="0"/>
              <a:t>“I want to work with modern technology and more elegant solutions. Sometimes decisions made previously can lead to new features being really hard to implement, whereas if decisions were reviewed simpler solutions could be found.”</a:t>
            </a:r>
          </a:p>
        </p:txBody>
      </p:sp>
    </p:spTree>
    <p:extLst>
      <p:ext uri="{BB962C8B-B14F-4D97-AF65-F5344CB8AC3E}">
        <p14:creationId xmlns:p14="http://schemas.microsoft.com/office/powerpoint/2010/main" val="9367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24584-894E-4FF2-1606-36056645AF1A}"/>
              </a:ext>
            </a:extLst>
          </p:cNvPr>
          <p:cNvSpPr>
            <a:spLocks noGrp="1"/>
          </p:cNvSpPr>
          <p:nvPr>
            <p:ph type="title"/>
          </p:nvPr>
        </p:nvSpPr>
        <p:spPr/>
        <p:txBody>
          <a:bodyPr/>
          <a:lstStyle/>
          <a:p>
            <a:pPr algn="ctr"/>
            <a:r>
              <a:rPr lang="en-GB" dirty="0"/>
              <a:t>Requirements Gathering - Solution Architect</a:t>
            </a:r>
          </a:p>
        </p:txBody>
      </p:sp>
      <p:sp>
        <p:nvSpPr>
          <p:cNvPr id="3" name="Content Placeholder 2">
            <a:extLst>
              <a:ext uri="{FF2B5EF4-FFF2-40B4-BE49-F238E27FC236}">
                <a16:creationId xmlns:a16="http://schemas.microsoft.com/office/drawing/2014/main" id="{87D5DC12-7F5F-4E92-DA32-DB96F290AFDE}"/>
              </a:ext>
            </a:extLst>
          </p:cNvPr>
          <p:cNvSpPr>
            <a:spLocks noGrp="1"/>
          </p:cNvSpPr>
          <p:nvPr>
            <p:ph idx="1"/>
          </p:nvPr>
        </p:nvSpPr>
        <p:spPr/>
        <p:txBody>
          <a:bodyPr/>
          <a:lstStyle/>
          <a:p>
            <a:r>
              <a:rPr lang="en-GB" dirty="0"/>
              <a:t>“Because of how often the cloud computing space (especially Azure, in our case) changes, it would be good if we could review decisions made previously. Often, new Azure products have better performance, features or security, and using these new products instead of continuing with old ones could reduce technical debt.”</a:t>
            </a:r>
          </a:p>
        </p:txBody>
      </p:sp>
    </p:spTree>
    <p:extLst>
      <p:ext uri="{BB962C8B-B14F-4D97-AF65-F5344CB8AC3E}">
        <p14:creationId xmlns:p14="http://schemas.microsoft.com/office/powerpoint/2010/main" val="262929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7D9A-AA7B-0F5E-F2B7-B832CA6A8691}"/>
              </a:ext>
            </a:extLst>
          </p:cNvPr>
          <p:cNvSpPr>
            <a:spLocks noGrp="1"/>
          </p:cNvSpPr>
          <p:nvPr>
            <p:ph type="title"/>
          </p:nvPr>
        </p:nvSpPr>
        <p:spPr/>
        <p:txBody>
          <a:bodyPr/>
          <a:lstStyle/>
          <a:p>
            <a:pPr algn="ctr"/>
            <a:r>
              <a:rPr lang="en-GB" dirty="0"/>
              <a:t>Requirements Gathering - Solution Engagement Manager</a:t>
            </a:r>
          </a:p>
        </p:txBody>
      </p:sp>
      <p:sp>
        <p:nvSpPr>
          <p:cNvPr id="3" name="Content Placeholder 2">
            <a:extLst>
              <a:ext uri="{FF2B5EF4-FFF2-40B4-BE49-F238E27FC236}">
                <a16:creationId xmlns:a16="http://schemas.microsoft.com/office/drawing/2014/main" id="{6A86841F-D554-66B8-3CE2-C308CDDB345C}"/>
              </a:ext>
            </a:extLst>
          </p:cNvPr>
          <p:cNvSpPr>
            <a:spLocks noGrp="1"/>
          </p:cNvSpPr>
          <p:nvPr>
            <p:ph idx="1"/>
          </p:nvPr>
        </p:nvSpPr>
        <p:spPr/>
        <p:txBody>
          <a:bodyPr/>
          <a:lstStyle/>
          <a:p>
            <a:r>
              <a:rPr lang="en-GB" dirty="0"/>
              <a:t>“Sometimes I have to tell customers that a specific feature cannot be implemented for technical reasons. I’m told this is because of legacy software in most of these cases. I would like to be able to tell customers that a feature CAN be implemented, instead of frustrating them.”</a:t>
            </a:r>
          </a:p>
        </p:txBody>
      </p:sp>
    </p:spTree>
    <p:extLst>
      <p:ext uri="{BB962C8B-B14F-4D97-AF65-F5344CB8AC3E}">
        <p14:creationId xmlns:p14="http://schemas.microsoft.com/office/powerpoint/2010/main" val="284258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D8215-5823-85A8-B7D8-697664C802DB}"/>
              </a:ext>
            </a:extLst>
          </p:cNvPr>
          <p:cNvSpPr>
            <a:spLocks noGrp="1"/>
          </p:cNvSpPr>
          <p:nvPr>
            <p:ph type="title"/>
          </p:nvPr>
        </p:nvSpPr>
        <p:spPr/>
        <p:txBody>
          <a:bodyPr/>
          <a:lstStyle/>
          <a:p>
            <a:pPr algn="ctr"/>
            <a:r>
              <a:rPr lang="en-GB" dirty="0"/>
              <a:t>Requirements Gathered for more consistent Reviewing Of Decision Logs</a:t>
            </a:r>
          </a:p>
        </p:txBody>
      </p:sp>
      <p:sp>
        <p:nvSpPr>
          <p:cNvPr id="3" name="Content Placeholder 2">
            <a:extLst>
              <a:ext uri="{FF2B5EF4-FFF2-40B4-BE49-F238E27FC236}">
                <a16:creationId xmlns:a16="http://schemas.microsoft.com/office/drawing/2014/main" id="{EEE38E7C-6A87-5F52-2F78-481772EDDF0C}"/>
              </a:ext>
            </a:extLst>
          </p:cNvPr>
          <p:cNvSpPr>
            <a:spLocks noGrp="1"/>
          </p:cNvSpPr>
          <p:nvPr>
            <p:ph idx="1"/>
          </p:nvPr>
        </p:nvSpPr>
        <p:spPr/>
        <p:txBody>
          <a:bodyPr/>
          <a:lstStyle/>
          <a:p>
            <a:r>
              <a:rPr lang="en-GB" dirty="0"/>
              <a:t>Keeping up with industry trends</a:t>
            </a:r>
          </a:p>
          <a:p>
            <a:r>
              <a:rPr lang="en-GB" dirty="0"/>
              <a:t>Use of more advanced technologies in development and production</a:t>
            </a:r>
          </a:p>
          <a:p>
            <a:r>
              <a:rPr lang="en-GB" dirty="0"/>
              <a:t>Preventing startups overtaking us by using more advanced technologies</a:t>
            </a:r>
          </a:p>
          <a:p>
            <a:r>
              <a:rPr lang="en-GB" dirty="0"/>
              <a:t>Removing technical debt from longstanding, badly understood decisions</a:t>
            </a:r>
          </a:p>
          <a:p>
            <a:r>
              <a:rPr lang="en-GB" dirty="0"/>
              <a:t>Providing more features for customers as a result of removing unnecessary technical debt</a:t>
            </a:r>
          </a:p>
        </p:txBody>
      </p:sp>
    </p:spTree>
    <p:extLst>
      <p:ext uri="{BB962C8B-B14F-4D97-AF65-F5344CB8AC3E}">
        <p14:creationId xmlns:p14="http://schemas.microsoft.com/office/powerpoint/2010/main" val="227197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DEFEE-7C67-6C25-392B-17BCAF86A4CD}"/>
              </a:ext>
            </a:extLst>
          </p:cNvPr>
          <p:cNvSpPr>
            <a:spLocks noGrp="1"/>
          </p:cNvSpPr>
          <p:nvPr>
            <p:ph type="title"/>
          </p:nvPr>
        </p:nvSpPr>
        <p:spPr/>
        <p:txBody>
          <a:bodyPr/>
          <a:lstStyle/>
          <a:p>
            <a:pPr algn="ctr"/>
            <a:r>
              <a:rPr lang="en-GB" dirty="0"/>
              <a:t>Proposed Activity Flow Diagram</a:t>
            </a:r>
          </a:p>
        </p:txBody>
      </p:sp>
      <p:pic>
        <p:nvPicPr>
          <p:cNvPr id="4" name="Content Placeholder 3" descr="A diagram of a diagram&#10;&#10;AI-generated content may be incorrect.">
            <a:extLst>
              <a:ext uri="{FF2B5EF4-FFF2-40B4-BE49-F238E27FC236}">
                <a16:creationId xmlns:a16="http://schemas.microsoft.com/office/drawing/2014/main" id="{9996CE7E-BA03-F959-35C8-CC019B1EFE89}"/>
              </a:ext>
            </a:extLst>
          </p:cNvPr>
          <p:cNvPicPr>
            <a:picLocks noGrp="1" noChangeAspect="1"/>
          </p:cNvPicPr>
          <p:nvPr>
            <p:ph idx="1"/>
          </p:nvPr>
        </p:nvPicPr>
        <p:blipFill>
          <a:blip r:embed="rId2"/>
          <a:stretch>
            <a:fillRect/>
          </a:stretch>
        </p:blipFill>
        <p:spPr>
          <a:xfrm>
            <a:off x="838200" y="2245189"/>
            <a:ext cx="10515600" cy="3512210"/>
          </a:xfrm>
          <a:prstGeom prst="rect">
            <a:avLst/>
          </a:prstGeom>
        </p:spPr>
      </p:pic>
    </p:spTree>
    <p:extLst>
      <p:ext uri="{BB962C8B-B14F-4D97-AF65-F5344CB8AC3E}">
        <p14:creationId xmlns:p14="http://schemas.microsoft.com/office/powerpoint/2010/main" val="345039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FF20C-638C-4F74-F297-EBB0FEEABB61}"/>
              </a:ext>
            </a:extLst>
          </p:cNvPr>
          <p:cNvSpPr>
            <a:spLocks noGrp="1"/>
          </p:cNvSpPr>
          <p:nvPr>
            <p:ph type="title"/>
          </p:nvPr>
        </p:nvSpPr>
        <p:spPr/>
        <p:txBody>
          <a:bodyPr/>
          <a:lstStyle/>
          <a:p>
            <a:pPr algn="ctr"/>
            <a:r>
              <a:rPr lang="en-GB" dirty="0"/>
              <a:t>Functionality</a:t>
            </a:r>
          </a:p>
        </p:txBody>
      </p:sp>
      <p:sp>
        <p:nvSpPr>
          <p:cNvPr id="3" name="Content Placeholder 2">
            <a:extLst>
              <a:ext uri="{FF2B5EF4-FFF2-40B4-BE49-F238E27FC236}">
                <a16:creationId xmlns:a16="http://schemas.microsoft.com/office/drawing/2014/main" id="{B7418065-3F59-6C1B-3BD7-C132A4C05F1D}"/>
              </a:ext>
            </a:extLst>
          </p:cNvPr>
          <p:cNvSpPr>
            <a:spLocks noGrp="1"/>
          </p:cNvSpPr>
          <p:nvPr>
            <p:ph idx="1"/>
          </p:nvPr>
        </p:nvSpPr>
        <p:spPr/>
        <p:txBody>
          <a:bodyPr>
            <a:normAutofit fontScale="92500"/>
          </a:bodyPr>
          <a:lstStyle/>
          <a:p>
            <a:pPr lvl="0"/>
            <a:r>
              <a:rPr lang="en-GB" dirty="0"/>
              <a:t>The system must be able to access Microsoft Teams for the organisation and interact with it in order to post alerts</a:t>
            </a:r>
          </a:p>
          <a:p>
            <a:pPr lvl="0"/>
            <a:r>
              <a:rPr lang="en-GB" dirty="0"/>
              <a:t>The system should send alerts to the relevant Teams Channel if a decision has not been reviewed in 180 days (due to small team sizes and to prevent overload) or more and the decision is still in effect</a:t>
            </a:r>
          </a:p>
          <a:p>
            <a:pPr lvl="0"/>
            <a:r>
              <a:rPr lang="en-GB" dirty="0"/>
              <a:t>The system must be able to read all the SharePoint Lists for decision logs so that each decision can be evaluated</a:t>
            </a:r>
          </a:p>
          <a:p>
            <a:pPr lvl="0"/>
            <a:r>
              <a:rPr lang="en-GB" dirty="0"/>
              <a:t>This alerting should happen once a week, on a Monday morning</a:t>
            </a:r>
          </a:p>
          <a:p>
            <a:r>
              <a:rPr lang="en-GB" dirty="0"/>
              <a:t>Unreviewed decisions should alert repeatedly, week-by-week, to ensure they are eventually reviewed</a:t>
            </a:r>
          </a:p>
        </p:txBody>
      </p:sp>
    </p:spTree>
    <p:extLst>
      <p:ext uri="{BB962C8B-B14F-4D97-AF65-F5344CB8AC3E}">
        <p14:creationId xmlns:p14="http://schemas.microsoft.com/office/powerpoint/2010/main" val="4012741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49875-7492-A0CE-1F37-DE998170FBB6}"/>
              </a:ext>
            </a:extLst>
          </p:cNvPr>
          <p:cNvSpPr>
            <a:spLocks noGrp="1"/>
          </p:cNvSpPr>
          <p:nvPr>
            <p:ph type="title"/>
          </p:nvPr>
        </p:nvSpPr>
        <p:spPr/>
        <p:txBody>
          <a:bodyPr/>
          <a:lstStyle/>
          <a:p>
            <a:pPr algn="ctr"/>
            <a:r>
              <a:rPr lang="en-GB" dirty="0"/>
              <a:t>Usability</a:t>
            </a:r>
          </a:p>
        </p:txBody>
      </p:sp>
      <p:sp>
        <p:nvSpPr>
          <p:cNvPr id="3" name="Content Placeholder 2">
            <a:extLst>
              <a:ext uri="{FF2B5EF4-FFF2-40B4-BE49-F238E27FC236}">
                <a16:creationId xmlns:a16="http://schemas.microsoft.com/office/drawing/2014/main" id="{DD13DF69-4916-3757-7E08-B2DD4DE65654}"/>
              </a:ext>
            </a:extLst>
          </p:cNvPr>
          <p:cNvSpPr>
            <a:spLocks noGrp="1"/>
          </p:cNvSpPr>
          <p:nvPr>
            <p:ph idx="1"/>
          </p:nvPr>
        </p:nvSpPr>
        <p:spPr/>
        <p:txBody>
          <a:bodyPr>
            <a:normAutofit fontScale="92500" lnSpcReduction="20000"/>
          </a:bodyPr>
          <a:lstStyle/>
          <a:p>
            <a:pPr lvl="0"/>
            <a:r>
              <a:rPr lang="en-GB" dirty="0"/>
              <a:t>The alert should follow the WCAG (Web Content Accessibility Guidelines) 2 standard as closely as possible, with the text being well contrasted (Guideline 1.4.1, 1.4.3), links being understandable from their text (Guideline 2.4.4), with a large enough font size (Guideline 1.4.4)</a:t>
            </a:r>
          </a:p>
          <a:p>
            <a:pPr lvl="0"/>
            <a:r>
              <a:rPr lang="en-GB" dirty="0"/>
              <a:t>The alert should show the information about the particular decision that is out of date</a:t>
            </a:r>
          </a:p>
          <a:p>
            <a:pPr lvl="0"/>
            <a:r>
              <a:rPr lang="en-GB" dirty="0"/>
              <a:t>A clickable link should be on the alert, to send the user to the particular SharePoint List the decision is in, so the user can review it in depth and edit once the review has been carried out</a:t>
            </a:r>
          </a:p>
          <a:p>
            <a:pPr lvl="0"/>
            <a:r>
              <a:rPr lang="en-GB" dirty="0"/>
              <a:t>Does not need to work on mobile screens</a:t>
            </a:r>
          </a:p>
          <a:p>
            <a:r>
              <a:rPr lang="en-GB" dirty="0"/>
              <a:t>Intuitive UI, with the clickable link to the SharePoint List being obviously a link</a:t>
            </a:r>
          </a:p>
        </p:txBody>
      </p:sp>
    </p:spTree>
    <p:extLst>
      <p:ext uri="{BB962C8B-B14F-4D97-AF65-F5344CB8AC3E}">
        <p14:creationId xmlns:p14="http://schemas.microsoft.com/office/powerpoint/2010/main" val="97694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C1F52-2FB0-75CF-6855-67DECBF6CF59}"/>
              </a:ext>
            </a:extLst>
          </p:cNvPr>
          <p:cNvSpPr>
            <a:spLocks noGrp="1"/>
          </p:cNvSpPr>
          <p:nvPr>
            <p:ph type="title"/>
          </p:nvPr>
        </p:nvSpPr>
        <p:spPr/>
        <p:txBody>
          <a:bodyPr/>
          <a:lstStyle/>
          <a:p>
            <a:r>
              <a:rPr lang="en-GB" dirty="0"/>
              <a:t>Reliability</a:t>
            </a:r>
          </a:p>
        </p:txBody>
      </p:sp>
      <p:sp>
        <p:nvSpPr>
          <p:cNvPr id="3" name="Content Placeholder 2">
            <a:extLst>
              <a:ext uri="{FF2B5EF4-FFF2-40B4-BE49-F238E27FC236}">
                <a16:creationId xmlns:a16="http://schemas.microsoft.com/office/drawing/2014/main" id="{00A32340-B520-7325-D617-8006130BE83B}"/>
              </a:ext>
            </a:extLst>
          </p:cNvPr>
          <p:cNvSpPr>
            <a:spLocks noGrp="1"/>
          </p:cNvSpPr>
          <p:nvPr>
            <p:ph idx="1"/>
          </p:nvPr>
        </p:nvSpPr>
        <p:spPr/>
        <p:txBody>
          <a:bodyPr/>
          <a:lstStyle/>
          <a:p>
            <a:pPr lvl="0"/>
            <a:r>
              <a:rPr lang="en-GB" dirty="0"/>
              <a:t>The alerting should fire off every Monday morning, without fail. In the event of a failure (such as credentials going out of date), the alert should instead explain that there was a failure of the system so an engineer can fix it</a:t>
            </a:r>
          </a:p>
          <a:p>
            <a:r>
              <a:rPr lang="en-GB" dirty="0"/>
              <a:t>Only authorised personnel should be able to access the SharePoint Lists containing decision logs and change information about the decisions</a:t>
            </a:r>
          </a:p>
        </p:txBody>
      </p:sp>
    </p:spTree>
    <p:extLst>
      <p:ext uri="{BB962C8B-B14F-4D97-AF65-F5344CB8AC3E}">
        <p14:creationId xmlns:p14="http://schemas.microsoft.com/office/powerpoint/2010/main" val="3357884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80E23-8E79-B491-1082-BBC480AD9846}"/>
              </a:ext>
            </a:extLst>
          </p:cNvPr>
          <p:cNvSpPr>
            <a:spLocks noGrp="1"/>
          </p:cNvSpPr>
          <p:nvPr>
            <p:ph type="title"/>
          </p:nvPr>
        </p:nvSpPr>
        <p:spPr/>
        <p:txBody>
          <a:bodyPr/>
          <a:lstStyle/>
          <a:p>
            <a:pPr algn="ctr"/>
            <a:r>
              <a:rPr lang="en-GB" dirty="0"/>
              <a:t>Performance</a:t>
            </a:r>
          </a:p>
        </p:txBody>
      </p:sp>
      <p:sp>
        <p:nvSpPr>
          <p:cNvPr id="3" name="Content Placeholder 2">
            <a:extLst>
              <a:ext uri="{FF2B5EF4-FFF2-40B4-BE49-F238E27FC236}">
                <a16:creationId xmlns:a16="http://schemas.microsoft.com/office/drawing/2014/main" id="{F9BF0FE0-CE31-9D3E-FB77-D53CB41A8446}"/>
              </a:ext>
            </a:extLst>
          </p:cNvPr>
          <p:cNvSpPr>
            <a:spLocks noGrp="1"/>
          </p:cNvSpPr>
          <p:nvPr>
            <p:ph idx="1"/>
          </p:nvPr>
        </p:nvSpPr>
        <p:spPr/>
        <p:txBody>
          <a:bodyPr/>
          <a:lstStyle/>
          <a:p>
            <a:pPr lvl="0"/>
            <a:r>
              <a:rPr lang="en-GB" dirty="0"/>
              <a:t>Most employees start work at 9:00 AM, so even if the system needs to access multiple SharePoint lists, process all decisions, and post cards and messages to Teams channels, it only needs to complete within 3 hours (between 6:00 and 9:00 AM)</a:t>
            </a:r>
          </a:p>
          <a:p>
            <a:r>
              <a:rPr lang="en-GB" dirty="0"/>
              <a:t>During testing on a single SharePoint List, the alert must be posted within 15 seconds of starting the test, to ensure scalability</a:t>
            </a:r>
          </a:p>
        </p:txBody>
      </p:sp>
    </p:spTree>
    <p:extLst>
      <p:ext uri="{BB962C8B-B14F-4D97-AF65-F5344CB8AC3E}">
        <p14:creationId xmlns:p14="http://schemas.microsoft.com/office/powerpoint/2010/main" val="2592945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042E1-B637-CE01-066B-77FF4931669C}"/>
              </a:ext>
            </a:extLst>
          </p:cNvPr>
          <p:cNvSpPr>
            <a:spLocks noGrp="1"/>
          </p:cNvSpPr>
          <p:nvPr>
            <p:ph type="title"/>
          </p:nvPr>
        </p:nvSpPr>
        <p:spPr/>
        <p:txBody>
          <a:bodyPr/>
          <a:lstStyle/>
          <a:p>
            <a:pPr algn="ctr"/>
            <a:r>
              <a:rPr lang="en-GB" dirty="0"/>
              <a:t>Supportability</a:t>
            </a:r>
          </a:p>
        </p:txBody>
      </p:sp>
      <p:sp>
        <p:nvSpPr>
          <p:cNvPr id="3" name="Content Placeholder 2">
            <a:extLst>
              <a:ext uri="{FF2B5EF4-FFF2-40B4-BE49-F238E27FC236}">
                <a16:creationId xmlns:a16="http://schemas.microsoft.com/office/drawing/2014/main" id="{AF1E1FF9-FA39-2AD5-4D20-9F56FD8EBEA5}"/>
              </a:ext>
            </a:extLst>
          </p:cNvPr>
          <p:cNvSpPr>
            <a:spLocks noGrp="1"/>
          </p:cNvSpPr>
          <p:nvPr>
            <p:ph idx="1"/>
          </p:nvPr>
        </p:nvSpPr>
        <p:spPr/>
        <p:txBody>
          <a:bodyPr/>
          <a:lstStyle/>
          <a:p>
            <a:pPr lvl="0"/>
            <a:r>
              <a:rPr lang="en-GB" dirty="0"/>
              <a:t>The alerting should be able to be expanded to more SharePoint Lists using parameterisation of SharePoint List links and iteration on these lists</a:t>
            </a:r>
          </a:p>
          <a:p>
            <a:r>
              <a:rPr lang="en-GB" dirty="0"/>
              <a:t>Almost impossible for decision log lists to ever reach the maximum amount of records in a SharePoint List, which is currently 30 million</a:t>
            </a:r>
          </a:p>
          <a:p>
            <a:r>
              <a:rPr lang="en-GB" dirty="0"/>
              <a:t>Version control should allow for rollback of versions of the service</a:t>
            </a:r>
          </a:p>
        </p:txBody>
      </p:sp>
    </p:spTree>
    <p:extLst>
      <p:ext uri="{BB962C8B-B14F-4D97-AF65-F5344CB8AC3E}">
        <p14:creationId xmlns:p14="http://schemas.microsoft.com/office/powerpoint/2010/main" val="3248602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550CA-9345-F7E6-B1B0-AA1F26430220}"/>
              </a:ext>
            </a:extLst>
          </p:cNvPr>
          <p:cNvSpPr>
            <a:spLocks noGrp="1"/>
          </p:cNvSpPr>
          <p:nvPr>
            <p:ph type="title"/>
          </p:nvPr>
        </p:nvSpPr>
        <p:spPr/>
        <p:txBody>
          <a:bodyPr/>
          <a:lstStyle/>
          <a:p>
            <a:pPr algn="ctr"/>
            <a:r>
              <a:rPr lang="en-GB" dirty="0"/>
              <a:t>Platform for Development</a:t>
            </a:r>
          </a:p>
        </p:txBody>
      </p:sp>
      <p:sp>
        <p:nvSpPr>
          <p:cNvPr id="3" name="Content Placeholder 2">
            <a:extLst>
              <a:ext uri="{FF2B5EF4-FFF2-40B4-BE49-F238E27FC236}">
                <a16:creationId xmlns:a16="http://schemas.microsoft.com/office/drawing/2014/main" id="{B73297BF-2C81-0FB5-A5FD-8AFE3B873196}"/>
              </a:ext>
            </a:extLst>
          </p:cNvPr>
          <p:cNvSpPr>
            <a:spLocks noGrp="1"/>
          </p:cNvSpPr>
          <p:nvPr>
            <p:ph idx="1"/>
          </p:nvPr>
        </p:nvSpPr>
        <p:spPr/>
        <p:txBody>
          <a:bodyPr/>
          <a:lstStyle/>
          <a:p>
            <a:r>
              <a:rPr lang="en-GB" dirty="0"/>
              <a:t>The platform chosen for development of the Decision Log Review Monitor is Microsoft Power Platform</a:t>
            </a:r>
          </a:p>
          <a:p>
            <a:r>
              <a:rPr lang="en-GB" dirty="0"/>
              <a:t>Power Automate specifically will be the technology driving the automation solution</a:t>
            </a:r>
          </a:p>
        </p:txBody>
      </p:sp>
    </p:spTree>
    <p:extLst>
      <p:ext uri="{BB962C8B-B14F-4D97-AF65-F5344CB8AC3E}">
        <p14:creationId xmlns:p14="http://schemas.microsoft.com/office/powerpoint/2010/main" val="1492277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BA074-70F0-1023-8D54-305CCEC1163A}"/>
              </a:ext>
            </a:extLst>
          </p:cNvPr>
          <p:cNvSpPr>
            <a:spLocks noGrp="1"/>
          </p:cNvSpPr>
          <p:nvPr>
            <p:ph type="title"/>
          </p:nvPr>
        </p:nvSpPr>
        <p:spPr/>
        <p:txBody>
          <a:bodyPr/>
          <a:lstStyle/>
          <a:p>
            <a:pPr algn="ctr"/>
            <a:r>
              <a:rPr lang="en-GB" dirty="0"/>
              <a:t>Functionality Reasons for Using Power Platform</a:t>
            </a:r>
          </a:p>
        </p:txBody>
      </p:sp>
      <p:sp>
        <p:nvSpPr>
          <p:cNvPr id="3" name="Content Placeholder 2">
            <a:extLst>
              <a:ext uri="{FF2B5EF4-FFF2-40B4-BE49-F238E27FC236}">
                <a16:creationId xmlns:a16="http://schemas.microsoft.com/office/drawing/2014/main" id="{AA28B587-FA26-509C-9729-5DAC5F8CE43C}"/>
              </a:ext>
            </a:extLst>
          </p:cNvPr>
          <p:cNvSpPr>
            <a:spLocks noGrp="1"/>
          </p:cNvSpPr>
          <p:nvPr>
            <p:ph idx="1"/>
          </p:nvPr>
        </p:nvSpPr>
        <p:spPr/>
        <p:txBody>
          <a:bodyPr/>
          <a:lstStyle/>
          <a:p>
            <a:r>
              <a:rPr lang="en-GB" dirty="0"/>
              <a:t>Microsoft Power Automate has native connectors for both Microsoft Teams and SharePoint Lists, allowing for ease of development</a:t>
            </a:r>
          </a:p>
          <a:p>
            <a:r>
              <a:rPr lang="en-GB" dirty="0"/>
              <a:t>My organisation already has access to Power Automate for everyone in the company through Microsoft 365 for Enterprise accounts, with a ‘Personal Productivity’ environment set up for developing this sort of application, and other environments set up for production use</a:t>
            </a:r>
          </a:p>
          <a:p>
            <a:r>
              <a:rPr lang="en-GB" dirty="0"/>
              <a:t>Easy ‘drag-and-drop’ interface, with the ability to code the date time checks quite easily and modify alerts using variables</a:t>
            </a:r>
          </a:p>
        </p:txBody>
      </p:sp>
    </p:spTree>
    <p:extLst>
      <p:ext uri="{BB962C8B-B14F-4D97-AF65-F5344CB8AC3E}">
        <p14:creationId xmlns:p14="http://schemas.microsoft.com/office/powerpoint/2010/main" val="229234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758B3-DC41-E3F1-0FE6-64168D84A3F0}"/>
              </a:ext>
            </a:extLst>
          </p:cNvPr>
          <p:cNvSpPr>
            <a:spLocks noGrp="1"/>
          </p:cNvSpPr>
          <p:nvPr>
            <p:ph type="title"/>
          </p:nvPr>
        </p:nvSpPr>
        <p:spPr/>
        <p:txBody>
          <a:bodyPr/>
          <a:lstStyle/>
          <a:p>
            <a:pPr algn="ctr"/>
            <a:r>
              <a:rPr lang="en-GB" dirty="0"/>
              <a:t>Security Reasons for Using Power Platform</a:t>
            </a:r>
          </a:p>
        </p:txBody>
      </p:sp>
      <p:sp>
        <p:nvSpPr>
          <p:cNvPr id="3" name="Content Placeholder 2">
            <a:extLst>
              <a:ext uri="{FF2B5EF4-FFF2-40B4-BE49-F238E27FC236}">
                <a16:creationId xmlns:a16="http://schemas.microsoft.com/office/drawing/2014/main" id="{A5AF45CD-E0EC-9B38-3F02-A93BDABC1BB3}"/>
              </a:ext>
            </a:extLst>
          </p:cNvPr>
          <p:cNvSpPr>
            <a:spLocks noGrp="1"/>
          </p:cNvSpPr>
          <p:nvPr>
            <p:ph idx="1"/>
          </p:nvPr>
        </p:nvSpPr>
        <p:spPr/>
        <p:txBody>
          <a:bodyPr/>
          <a:lstStyle/>
          <a:p>
            <a:r>
              <a:rPr lang="en-GB" dirty="0"/>
              <a:t>Role-Based Access Control is already set up for each environment, preventing malicious actors from getting access to workflows</a:t>
            </a:r>
          </a:p>
          <a:p>
            <a:r>
              <a:rPr lang="en-GB" dirty="0"/>
              <a:t>Microsoft Entra ID is used to ensure SharePoint permissions on connectors are role-based, and Teams connections are done via Entra ID Groups, preventing unauthorised actions in the workflow</a:t>
            </a:r>
          </a:p>
          <a:p>
            <a:r>
              <a:rPr lang="en-GB" dirty="0"/>
              <a:t>Ease of use of credentials for connectors based on the above</a:t>
            </a:r>
          </a:p>
          <a:p>
            <a:r>
              <a:rPr lang="en-GB" dirty="0"/>
              <a:t>Although not Power Platform itself, Role-Based Access Control is used when viewing the Teams Channel or SharePoint List, adding another layer of security</a:t>
            </a:r>
          </a:p>
        </p:txBody>
      </p:sp>
    </p:spTree>
    <p:extLst>
      <p:ext uri="{BB962C8B-B14F-4D97-AF65-F5344CB8AC3E}">
        <p14:creationId xmlns:p14="http://schemas.microsoft.com/office/powerpoint/2010/main" val="1045243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EBE35-D512-BA80-25A5-13569105E36E}"/>
              </a:ext>
            </a:extLst>
          </p:cNvPr>
          <p:cNvSpPr>
            <a:spLocks noGrp="1"/>
          </p:cNvSpPr>
          <p:nvPr>
            <p:ph type="title"/>
          </p:nvPr>
        </p:nvSpPr>
        <p:spPr/>
        <p:txBody>
          <a:bodyPr/>
          <a:lstStyle/>
          <a:p>
            <a:pPr algn="ctr"/>
            <a:r>
              <a:rPr lang="en-GB" dirty="0"/>
              <a:t>Cost Reasons for Using Power Platform</a:t>
            </a:r>
          </a:p>
        </p:txBody>
      </p:sp>
      <p:sp>
        <p:nvSpPr>
          <p:cNvPr id="3" name="Content Placeholder 2">
            <a:extLst>
              <a:ext uri="{FF2B5EF4-FFF2-40B4-BE49-F238E27FC236}">
                <a16:creationId xmlns:a16="http://schemas.microsoft.com/office/drawing/2014/main" id="{756B0618-764E-0012-5DF2-E5502FD5E26F}"/>
              </a:ext>
            </a:extLst>
          </p:cNvPr>
          <p:cNvSpPr>
            <a:spLocks noGrp="1"/>
          </p:cNvSpPr>
          <p:nvPr>
            <p:ph idx="1"/>
          </p:nvPr>
        </p:nvSpPr>
        <p:spPr/>
        <p:txBody>
          <a:bodyPr/>
          <a:lstStyle/>
          <a:p>
            <a:r>
              <a:rPr lang="en-GB" dirty="0"/>
              <a:t>Microsoft 365 user accounts are already being used at my organisation, therefore any other platform would be financial overhead above and beyond this</a:t>
            </a:r>
          </a:p>
          <a:p>
            <a:r>
              <a:rPr lang="en-GB" dirty="0"/>
              <a:t>Most other platforms, such as KNIME Analytics Platform or </a:t>
            </a:r>
            <a:r>
              <a:rPr lang="en-GB" dirty="0" err="1"/>
              <a:t>Mendix</a:t>
            </a:r>
            <a:r>
              <a:rPr lang="en-GB" dirty="0"/>
              <a:t> do not directly quote prices for enterprise, but can be assumed to be £1000 a head per year based on lower prices</a:t>
            </a:r>
          </a:p>
          <a:p>
            <a:r>
              <a:rPr lang="en-GB" dirty="0"/>
              <a:t>In an organisation of over 500 developers, this would be estimated at £500,000 per year, a significant price to pay</a:t>
            </a:r>
          </a:p>
        </p:txBody>
      </p:sp>
    </p:spTree>
    <p:extLst>
      <p:ext uri="{BB962C8B-B14F-4D97-AF65-F5344CB8AC3E}">
        <p14:creationId xmlns:p14="http://schemas.microsoft.com/office/powerpoint/2010/main" val="867565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5A4B1-7966-1DA7-88F5-A5D4061A08C8}"/>
              </a:ext>
            </a:extLst>
          </p:cNvPr>
          <p:cNvSpPr>
            <a:spLocks noGrp="1"/>
          </p:cNvSpPr>
          <p:nvPr>
            <p:ph type="title"/>
          </p:nvPr>
        </p:nvSpPr>
        <p:spPr/>
        <p:txBody>
          <a:bodyPr/>
          <a:lstStyle/>
          <a:p>
            <a:pPr algn="ctr"/>
            <a:r>
              <a:rPr lang="en-GB" dirty="0"/>
              <a:t>Diagram of Connections</a:t>
            </a:r>
          </a:p>
        </p:txBody>
      </p:sp>
      <p:sp>
        <p:nvSpPr>
          <p:cNvPr id="3" name="Content Placeholder 2">
            <a:extLst>
              <a:ext uri="{FF2B5EF4-FFF2-40B4-BE49-F238E27FC236}">
                <a16:creationId xmlns:a16="http://schemas.microsoft.com/office/drawing/2014/main" id="{3B8182AD-A9B3-460F-B08C-D4895D1BC95A}"/>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636A6047-0C3B-E996-37FA-0051F297582C}"/>
              </a:ext>
            </a:extLst>
          </p:cNvPr>
          <p:cNvPicPr>
            <a:picLocks noChangeAspect="1"/>
          </p:cNvPicPr>
          <p:nvPr/>
        </p:nvPicPr>
        <p:blipFill>
          <a:blip r:embed="rId2"/>
          <a:stretch>
            <a:fillRect/>
          </a:stretch>
        </p:blipFill>
        <p:spPr>
          <a:xfrm>
            <a:off x="838200" y="1990911"/>
            <a:ext cx="10635114" cy="4020766"/>
          </a:xfrm>
          <a:prstGeom prst="rect">
            <a:avLst/>
          </a:prstGeom>
        </p:spPr>
      </p:pic>
    </p:spTree>
    <p:extLst>
      <p:ext uri="{BB962C8B-B14F-4D97-AF65-F5344CB8AC3E}">
        <p14:creationId xmlns:p14="http://schemas.microsoft.com/office/powerpoint/2010/main" val="1388486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9E043-DE38-CF7B-126A-DE3D99DCDDCE}"/>
              </a:ext>
            </a:extLst>
          </p:cNvPr>
          <p:cNvSpPr>
            <a:spLocks noGrp="1"/>
          </p:cNvSpPr>
          <p:nvPr>
            <p:ph type="title"/>
          </p:nvPr>
        </p:nvSpPr>
        <p:spPr/>
        <p:txBody>
          <a:bodyPr/>
          <a:lstStyle/>
          <a:p>
            <a:endParaRPr lang="en-GB" dirty="0"/>
          </a:p>
        </p:txBody>
      </p:sp>
      <p:sp>
        <p:nvSpPr>
          <p:cNvPr id="3" name="Content Placeholder 2">
            <a:extLst>
              <a:ext uri="{FF2B5EF4-FFF2-40B4-BE49-F238E27FC236}">
                <a16:creationId xmlns:a16="http://schemas.microsoft.com/office/drawing/2014/main" id="{5F286728-3BAF-0F71-9913-3D6F3BF67430}"/>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C4EB8AB6-F5A1-61FB-38F1-EA7983353922}"/>
              </a:ext>
            </a:extLst>
          </p:cNvPr>
          <p:cNvPicPr>
            <a:picLocks noChangeAspect="1"/>
          </p:cNvPicPr>
          <p:nvPr/>
        </p:nvPicPr>
        <p:blipFill>
          <a:blip r:embed="rId2"/>
          <a:stretch>
            <a:fillRect/>
          </a:stretch>
        </p:blipFill>
        <p:spPr>
          <a:xfrm>
            <a:off x="4138339" y="278498"/>
            <a:ext cx="3915321" cy="6125430"/>
          </a:xfrm>
          <a:prstGeom prst="rect">
            <a:avLst/>
          </a:prstGeom>
        </p:spPr>
      </p:pic>
    </p:spTree>
    <p:extLst>
      <p:ext uri="{BB962C8B-B14F-4D97-AF65-F5344CB8AC3E}">
        <p14:creationId xmlns:p14="http://schemas.microsoft.com/office/powerpoint/2010/main" val="3178492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8B0CE-3BA3-B839-5725-A6A42730531A}"/>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32CB7F92-9541-8BB6-2F97-8A34F21EA748}"/>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434020EB-B2CB-1BF0-7B83-27C219C2F910}"/>
              </a:ext>
            </a:extLst>
          </p:cNvPr>
          <p:cNvPicPr>
            <a:picLocks noChangeAspect="1"/>
          </p:cNvPicPr>
          <p:nvPr/>
        </p:nvPicPr>
        <p:blipFill>
          <a:blip r:embed="rId2"/>
          <a:stretch>
            <a:fillRect/>
          </a:stretch>
        </p:blipFill>
        <p:spPr>
          <a:xfrm>
            <a:off x="3320815" y="365125"/>
            <a:ext cx="5550370" cy="6035676"/>
          </a:xfrm>
          <a:prstGeom prst="rect">
            <a:avLst/>
          </a:prstGeom>
        </p:spPr>
      </p:pic>
    </p:spTree>
    <p:extLst>
      <p:ext uri="{BB962C8B-B14F-4D97-AF65-F5344CB8AC3E}">
        <p14:creationId xmlns:p14="http://schemas.microsoft.com/office/powerpoint/2010/main" val="1657319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56E53-F1AB-7ABA-9EAD-C5C27A24FEB0}"/>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C9E3BFA5-5EED-1A55-9040-F84835AF793D}"/>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9DF26D6E-DD89-B9BC-81CF-2E0B605DABB4}"/>
              </a:ext>
            </a:extLst>
          </p:cNvPr>
          <p:cNvPicPr>
            <a:picLocks noChangeAspect="1"/>
          </p:cNvPicPr>
          <p:nvPr/>
        </p:nvPicPr>
        <p:blipFill>
          <a:blip r:embed="rId2"/>
          <a:stretch>
            <a:fillRect/>
          </a:stretch>
        </p:blipFill>
        <p:spPr>
          <a:xfrm>
            <a:off x="838200" y="554474"/>
            <a:ext cx="5953956" cy="4182059"/>
          </a:xfrm>
          <a:prstGeom prst="rect">
            <a:avLst/>
          </a:prstGeom>
        </p:spPr>
      </p:pic>
      <p:pic>
        <p:nvPicPr>
          <p:cNvPr id="7" name="Picture 6">
            <a:extLst>
              <a:ext uri="{FF2B5EF4-FFF2-40B4-BE49-F238E27FC236}">
                <a16:creationId xmlns:a16="http://schemas.microsoft.com/office/drawing/2014/main" id="{49DA0262-1D66-E6F6-6558-8D76DA870DB4}"/>
              </a:ext>
            </a:extLst>
          </p:cNvPr>
          <p:cNvPicPr>
            <a:picLocks noChangeAspect="1"/>
          </p:cNvPicPr>
          <p:nvPr/>
        </p:nvPicPr>
        <p:blipFill>
          <a:blip r:embed="rId3"/>
          <a:stretch>
            <a:fillRect/>
          </a:stretch>
        </p:blipFill>
        <p:spPr>
          <a:xfrm>
            <a:off x="6792156" y="2245397"/>
            <a:ext cx="4515480" cy="800212"/>
          </a:xfrm>
          <a:prstGeom prst="rect">
            <a:avLst/>
          </a:prstGeom>
        </p:spPr>
      </p:pic>
    </p:spTree>
    <p:extLst>
      <p:ext uri="{BB962C8B-B14F-4D97-AF65-F5344CB8AC3E}">
        <p14:creationId xmlns:p14="http://schemas.microsoft.com/office/powerpoint/2010/main" val="81423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0963-D414-F752-18E9-3B0B64B9B9A6}"/>
              </a:ext>
            </a:extLst>
          </p:cNvPr>
          <p:cNvSpPr>
            <a:spLocks noGrp="1"/>
          </p:cNvSpPr>
          <p:nvPr>
            <p:ph type="title"/>
          </p:nvPr>
        </p:nvSpPr>
        <p:spPr>
          <a:xfrm>
            <a:off x="944078" y="18255"/>
            <a:ext cx="10515600" cy="1325563"/>
          </a:xfrm>
        </p:spPr>
        <p:txBody>
          <a:bodyPr/>
          <a:lstStyle/>
          <a:p>
            <a:pPr algn="ctr"/>
            <a:r>
              <a:rPr lang="en-GB" dirty="0"/>
              <a:t>Show Functionality Proof</a:t>
            </a:r>
          </a:p>
        </p:txBody>
      </p:sp>
      <p:sp>
        <p:nvSpPr>
          <p:cNvPr id="3" name="Content Placeholder 2">
            <a:extLst>
              <a:ext uri="{FF2B5EF4-FFF2-40B4-BE49-F238E27FC236}">
                <a16:creationId xmlns:a16="http://schemas.microsoft.com/office/drawing/2014/main" id="{DEB1FAB9-C34C-BFD6-F7AA-B18EEC1FD2A5}"/>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91221892-2F01-AB27-C478-CEBC052AF409}"/>
              </a:ext>
            </a:extLst>
          </p:cNvPr>
          <p:cNvPicPr>
            <a:picLocks noChangeAspect="1"/>
          </p:cNvPicPr>
          <p:nvPr/>
        </p:nvPicPr>
        <p:blipFill>
          <a:blip r:embed="rId3"/>
          <a:stretch>
            <a:fillRect/>
          </a:stretch>
        </p:blipFill>
        <p:spPr>
          <a:xfrm>
            <a:off x="6096000" y="1578266"/>
            <a:ext cx="5752699" cy="4598697"/>
          </a:xfrm>
          <a:prstGeom prst="rect">
            <a:avLst/>
          </a:prstGeom>
        </p:spPr>
      </p:pic>
      <p:pic>
        <p:nvPicPr>
          <p:cNvPr id="7" name="Picture 6">
            <a:extLst>
              <a:ext uri="{FF2B5EF4-FFF2-40B4-BE49-F238E27FC236}">
                <a16:creationId xmlns:a16="http://schemas.microsoft.com/office/drawing/2014/main" id="{E10BBF62-4128-97B4-9CC1-6C3FB9BE1F86}"/>
              </a:ext>
            </a:extLst>
          </p:cNvPr>
          <p:cNvPicPr>
            <a:picLocks noChangeAspect="1"/>
          </p:cNvPicPr>
          <p:nvPr/>
        </p:nvPicPr>
        <p:blipFill>
          <a:blip r:embed="rId4"/>
          <a:stretch>
            <a:fillRect/>
          </a:stretch>
        </p:blipFill>
        <p:spPr>
          <a:xfrm>
            <a:off x="123023" y="1222121"/>
            <a:ext cx="5478078" cy="3873550"/>
          </a:xfrm>
          <a:prstGeom prst="rect">
            <a:avLst/>
          </a:prstGeom>
        </p:spPr>
      </p:pic>
    </p:spTree>
    <p:extLst>
      <p:ext uri="{BB962C8B-B14F-4D97-AF65-F5344CB8AC3E}">
        <p14:creationId xmlns:p14="http://schemas.microsoft.com/office/powerpoint/2010/main" val="81136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DED7F-D904-8860-260F-DD31CCF13C0A}"/>
              </a:ext>
            </a:extLst>
          </p:cNvPr>
          <p:cNvSpPr>
            <a:spLocks noGrp="1"/>
          </p:cNvSpPr>
          <p:nvPr>
            <p:ph type="title"/>
          </p:nvPr>
        </p:nvSpPr>
        <p:spPr/>
        <p:txBody>
          <a:bodyPr/>
          <a:lstStyle/>
          <a:p>
            <a:pPr algn="ctr"/>
            <a:r>
              <a:rPr lang="en-GB" dirty="0"/>
              <a:t>Show Usability Proof</a:t>
            </a:r>
          </a:p>
        </p:txBody>
      </p:sp>
      <p:pic>
        <p:nvPicPr>
          <p:cNvPr id="5" name="Content Placeholder 4">
            <a:extLst>
              <a:ext uri="{FF2B5EF4-FFF2-40B4-BE49-F238E27FC236}">
                <a16:creationId xmlns:a16="http://schemas.microsoft.com/office/drawing/2014/main" id="{FC7B4300-49BD-B115-4C8C-9A50F49C8809}"/>
              </a:ext>
            </a:extLst>
          </p:cNvPr>
          <p:cNvPicPr>
            <a:picLocks noGrp="1" noChangeAspect="1"/>
          </p:cNvPicPr>
          <p:nvPr>
            <p:ph idx="1"/>
          </p:nvPr>
        </p:nvPicPr>
        <p:blipFill>
          <a:blip r:embed="rId2"/>
          <a:stretch>
            <a:fillRect/>
          </a:stretch>
        </p:blipFill>
        <p:spPr>
          <a:xfrm>
            <a:off x="230594" y="1635196"/>
            <a:ext cx="5401429" cy="3991532"/>
          </a:xfrm>
          <a:prstGeom prst="rect">
            <a:avLst/>
          </a:prstGeom>
        </p:spPr>
      </p:pic>
      <p:sp>
        <p:nvSpPr>
          <p:cNvPr id="6" name="TextBox 5">
            <a:extLst>
              <a:ext uri="{FF2B5EF4-FFF2-40B4-BE49-F238E27FC236}">
                <a16:creationId xmlns:a16="http://schemas.microsoft.com/office/drawing/2014/main" id="{D6455F81-B3DD-12D0-7187-0F0FFAD8DDA9}"/>
              </a:ext>
            </a:extLst>
          </p:cNvPr>
          <p:cNvSpPr txBox="1"/>
          <p:nvPr/>
        </p:nvSpPr>
        <p:spPr>
          <a:xfrm>
            <a:off x="5862618" y="1350384"/>
            <a:ext cx="1805539" cy="2308324"/>
          </a:xfrm>
          <a:prstGeom prst="rect">
            <a:avLst/>
          </a:prstGeom>
          <a:noFill/>
        </p:spPr>
        <p:txBody>
          <a:bodyPr wrap="square" rtlCol="0">
            <a:spAutoFit/>
          </a:bodyPr>
          <a:lstStyle/>
          <a:p>
            <a:r>
              <a:rPr lang="en-GB" dirty="0"/>
              <a:t>High contrast black text on light grey background to conform to</a:t>
            </a:r>
          </a:p>
          <a:p>
            <a:r>
              <a:rPr lang="en-GB" dirty="0"/>
              <a:t>WCAG 2 guideline 1.4.1 and 1.4.3 </a:t>
            </a:r>
          </a:p>
        </p:txBody>
      </p:sp>
      <p:pic>
        <p:nvPicPr>
          <p:cNvPr id="8" name="Picture 7">
            <a:extLst>
              <a:ext uri="{FF2B5EF4-FFF2-40B4-BE49-F238E27FC236}">
                <a16:creationId xmlns:a16="http://schemas.microsoft.com/office/drawing/2014/main" id="{32237BE8-176D-B0FF-BD34-639556F113F1}"/>
              </a:ext>
            </a:extLst>
          </p:cNvPr>
          <p:cNvPicPr>
            <a:picLocks noChangeAspect="1"/>
          </p:cNvPicPr>
          <p:nvPr/>
        </p:nvPicPr>
        <p:blipFill>
          <a:blip r:embed="rId3"/>
          <a:stretch>
            <a:fillRect/>
          </a:stretch>
        </p:blipFill>
        <p:spPr>
          <a:xfrm>
            <a:off x="7898752" y="1690688"/>
            <a:ext cx="4172532" cy="1009791"/>
          </a:xfrm>
          <a:prstGeom prst="rect">
            <a:avLst/>
          </a:prstGeom>
        </p:spPr>
      </p:pic>
      <p:sp>
        <p:nvSpPr>
          <p:cNvPr id="9" name="TextBox 8">
            <a:extLst>
              <a:ext uri="{FF2B5EF4-FFF2-40B4-BE49-F238E27FC236}">
                <a16:creationId xmlns:a16="http://schemas.microsoft.com/office/drawing/2014/main" id="{5F6EBA98-B9D2-0A56-E85D-CB88479AE8A7}"/>
              </a:ext>
            </a:extLst>
          </p:cNvPr>
          <p:cNvSpPr txBox="1"/>
          <p:nvPr/>
        </p:nvSpPr>
        <p:spPr>
          <a:xfrm>
            <a:off x="8450981" y="3630962"/>
            <a:ext cx="2252312" cy="1200329"/>
          </a:xfrm>
          <a:prstGeom prst="rect">
            <a:avLst/>
          </a:prstGeom>
          <a:noFill/>
        </p:spPr>
        <p:txBody>
          <a:bodyPr wrap="square" rtlCol="0">
            <a:spAutoFit/>
          </a:bodyPr>
          <a:lstStyle/>
          <a:p>
            <a:r>
              <a:rPr lang="en-GB" dirty="0"/>
              <a:t>Large text to make it easier to see and conform to WCAG 2 1.4.4</a:t>
            </a:r>
          </a:p>
        </p:txBody>
      </p:sp>
      <p:sp>
        <p:nvSpPr>
          <p:cNvPr id="14" name="TextBox 13">
            <a:extLst>
              <a:ext uri="{FF2B5EF4-FFF2-40B4-BE49-F238E27FC236}">
                <a16:creationId xmlns:a16="http://schemas.microsoft.com/office/drawing/2014/main" id="{7463DA10-6AB4-DF3A-DEDE-B7CCB65F34B0}"/>
              </a:ext>
            </a:extLst>
          </p:cNvPr>
          <p:cNvSpPr txBox="1"/>
          <p:nvPr/>
        </p:nvSpPr>
        <p:spPr>
          <a:xfrm>
            <a:off x="5531348" y="3976427"/>
            <a:ext cx="2675824" cy="2862322"/>
          </a:xfrm>
          <a:prstGeom prst="rect">
            <a:avLst/>
          </a:prstGeom>
          <a:noFill/>
        </p:spPr>
        <p:txBody>
          <a:bodyPr wrap="square" rtlCol="0">
            <a:spAutoFit/>
          </a:bodyPr>
          <a:lstStyle/>
          <a:p>
            <a:r>
              <a:rPr lang="en-GB" dirty="0"/>
              <a:t>‘View Decision Log’ shows what the link does. It also changes the cursor to a pointer and turns the button light grey when hovered over, conforming to WCAG 2 guideline 2.4.4 and making it intuitive for users</a:t>
            </a:r>
          </a:p>
        </p:txBody>
      </p:sp>
    </p:spTree>
    <p:extLst>
      <p:ext uri="{BB962C8B-B14F-4D97-AF65-F5344CB8AC3E}">
        <p14:creationId xmlns:p14="http://schemas.microsoft.com/office/powerpoint/2010/main" val="106306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F220B0DD-A95B-66DF-0458-CFF55CA30B0A}"/>
              </a:ext>
            </a:extLst>
          </p:cNvPr>
          <p:cNvPicPr>
            <a:picLocks noGrp="1" noChangeAspect="1"/>
          </p:cNvPicPr>
          <p:nvPr>
            <p:ph idx="1"/>
          </p:nvPr>
        </p:nvPicPr>
        <p:blipFill>
          <a:blip r:embed="rId3"/>
          <a:stretch>
            <a:fillRect/>
          </a:stretch>
        </p:blipFill>
        <p:spPr>
          <a:xfrm>
            <a:off x="2186481" y="643467"/>
            <a:ext cx="7819038" cy="5571065"/>
          </a:xfrm>
          <a:prstGeom prst="rect">
            <a:avLst/>
          </a:prstGeom>
          <a:ln>
            <a:noFill/>
          </a:ln>
        </p:spPr>
      </p:pic>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072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1934-6FA4-AE38-21EF-E6D4F527C581}"/>
              </a:ext>
            </a:extLst>
          </p:cNvPr>
          <p:cNvSpPr>
            <a:spLocks noGrp="1"/>
          </p:cNvSpPr>
          <p:nvPr>
            <p:ph type="title"/>
          </p:nvPr>
        </p:nvSpPr>
        <p:spPr/>
        <p:txBody>
          <a:bodyPr/>
          <a:lstStyle/>
          <a:p>
            <a:pPr algn="ctr"/>
            <a:r>
              <a:rPr lang="en-GB" dirty="0"/>
              <a:t>Show Reliability proof</a:t>
            </a:r>
          </a:p>
        </p:txBody>
      </p:sp>
      <p:sp>
        <p:nvSpPr>
          <p:cNvPr id="3" name="Content Placeholder 2">
            <a:extLst>
              <a:ext uri="{FF2B5EF4-FFF2-40B4-BE49-F238E27FC236}">
                <a16:creationId xmlns:a16="http://schemas.microsoft.com/office/drawing/2014/main" id="{A3B37AF4-1BC8-5473-868B-8C6AF3ACA458}"/>
              </a:ext>
            </a:extLst>
          </p:cNvPr>
          <p:cNvSpPr>
            <a:spLocks noGrp="1"/>
          </p:cNvSpPr>
          <p:nvPr>
            <p:ph idx="1"/>
          </p:nvPr>
        </p:nvSpPr>
        <p:spPr/>
        <p:txBody>
          <a:bodyPr/>
          <a:lstStyle/>
          <a:p>
            <a:endParaRPr lang="en-GB" dirty="0"/>
          </a:p>
        </p:txBody>
      </p:sp>
      <p:pic>
        <p:nvPicPr>
          <p:cNvPr id="5" name="Picture 4">
            <a:extLst>
              <a:ext uri="{FF2B5EF4-FFF2-40B4-BE49-F238E27FC236}">
                <a16:creationId xmlns:a16="http://schemas.microsoft.com/office/drawing/2014/main" id="{E84AB0E3-AB5F-102C-2842-24C3FC7635A8}"/>
              </a:ext>
            </a:extLst>
          </p:cNvPr>
          <p:cNvPicPr>
            <a:picLocks noChangeAspect="1"/>
          </p:cNvPicPr>
          <p:nvPr/>
        </p:nvPicPr>
        <p:blipFill>
          <a:blip r:embed="rId3"/>
          <a:stretch>
            <a:fillRect/>
          </a:stretch>
        </p:blipFill>
        <p:spPr>
          <a:xfrm>
            <a:off x="2942785" y="1309391"/>
            <a:ext cx="6306430" cy="4239217"/>
          </a:xfrm>
          <a:prstGeom prst="rect">
            <a:avLst/>
          </a:prstGeom>
        </p:spPr>
      </p:pic>
      <p:sp>
        <p:nvSpPr>
          <p:cNvPr id="6" name="TextBox 5">
            <a:extLst>
              <a:ext uri="{FF2B5EF4-FFF2-40B4-BE49-F238E27FC236}">
                <a16:creationId xmlns:a16="http://schemas.microsoft.com/office/drawing/2014/main" id="{CCFE4B83-83BA-002F-12DE-7BB5F5F02B58}"/>
              </a:ext>
            </a:extLst>
          </p:cNvPr>
          <p:cNvSpPr txBox="1"/>
          <p:nvPr/>
        </p:nvSpPr>
        <p:spPr>
          <a:xfrm>
            <a:off x="313153" y="2634954"/>
            <a:ext cx="3154680" cy="1754326"/>
          </a:xfrm>
          <a:prstGeom prst="rect">
            <a:avLst/>
          </a:prstGeom>
          <a:noFill/>
        </p:spPr>
        <p:txBody>
          <a:bodyPr wrap="square" rtlCol="0">
            <a:spAutoFit/>
          </a:bodyPr>
          <a:lstStyle/>
          <a:p>
            <a:r>
              <a:rPr lang="en-GB" dirty="0"/>
              <a:t>Made on Monday. The reason for the 06:59 was due to backlog of other updates, and that there is no guarantee it will run immediately, unless using Premium Connectors</a:t>
            </a:r>
          </a:p>
        </p:txBody>
      </p:sp>
      <p:sp>
        <p:nvSpPr>
          <p:cNvPr id="7" name="TextBox 6">
            <a:extLst>
              <a:ext uri="{FF2B5EF4-FFF2-40B4-BE49-F238E27FC236}">
                <a16:creationId xmlns:a16="http://schemas.microsoft.com/office/drawing/2014/main" id="{34CE52D6-524F-5361-42FD-3FA340B420A8}"/>
              </a:ext>
            </a:extLst>
          </p:cNvPr>
          <p:cNvSpPr txBox="1"/>
          <p:nvPr/>
        </p:nvSpPr>
        <p:spPr>
          <a:xfrm>
            <a:off x="8452104" y="2883642"/>
            <a:ext cx="2944368" cy="1200329"/>
          </a:xfrm>
          <a:prstGeom prst="rect">
            <a:avLst/>
          </a:prstGeom>
          <a:noFill/>
        </p:spPr>
        <p:txBody>
          <a:bodyPr wrap="square" rtlCol="0">
            <a:spAutoFit/>
          </a:bodyPr>
          <a:lstStyle/>
          <a:p>
            <a:r>
              <a:rPr lang="en-GB" dirty="0"/>
              <a:t>Still, as the runtime was very short, the given space of from 6:00am till 9:00am still works</a:t>
            </a:r>
          </a:p>
        </p:txBody>
      </p:sp>
    </p:spTree>
    <p:extLst>
      <p:ext uri="{BB962C8B-B14F-4D97-AF65-F5344CB8AC3E}">
        <p14:creationId xmlns:p14="http://schemas.microsoft.com/office/powerpoint/2010/main" val="4265912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73A34-3C30-2BB0-3FD9-A00E98A3DBB2}"/>
              </a:ext>
            </a:extLst>
          </p:cNvPr>
          <p:cNvSpPr>
            <a:spLocks noGrp="1"/>
          </p:cNvSpPr>
          <p:nvPr>
            <p:ph type="title"/>
          </p:nvPr>
        </p:nvSpPr>
        <p:spPr/>
        <p:txBody>
          <a:bodyPr/>
          <a:lstStyle/>
          <a:p>
            <a:pPr algn="ctr"/>
            <a:r>
              <a:rPr lang="en-GB" dirty="0"/>
              <a:t>Show Performance proof</a:t>
            </a:r>
          </a:p>
        </p:txBody>
      </p:sp>
      <p:pic>
        <p:nvPicPr>
          <p:cNvPr id="5" name="Content Placeholder 4">
            <a:extLst>
              <a:ext uri="{FF2B5EF4-FFF2-40B4-BE49-F238E27FC236}">
                <a16:creationId xmlns:a16="http://schemas.microsoft.com/office/drawing/2014/main" id="{F8CFB555-F4AD-3BD2-3B1E-57023113E531}"/>
              </a:ext>
            </a:extLst>
          </p:cNvPr>
          <p:cNvPicPr>
            <a:picLocks noGrp="1" noChangeAspect="1"/>
          </p:cNvPicPr>
          <p:nvPr>
            <p:ph idx="1"/>
          </p:nvPr>
        </p:nvPicPr>
        <p:blipFill>
          <a:blip r:embed="rId2"/>
          <a:stretch>
            <a:fillRect/>
          </a:stretch>
        </p:blipFill>
        <p:spPr>
          <a:xfrm>
            <a:off x="3920331" y="1825625"/>
            <a:ext cx="4351338" cy="4351338"/>
          </a:xfrm>
          <a:prstGeom prst="rect">
            <a:avLst/>
          </a:prstGeom>
        </p:spPr>
      </p:pic>
      <p:sp>
        <p:nvSpPr>
          <p:cNvPr id="6" name="TextBox 5">
            <a:extLst>
              <a:ext uri="{FF2B5EF4-FFF2-40B4-BE49-F238E27FC236}">
                <a16:creationId xmlns:a16="http://schemas.microsoft.com/office/drawing/2014/main" id="{A7D157B9-AC7B-0ADF-94CD-ED1A3B2D9568}"/>
              </a:ext>
            </a:extLst>
          </p:cNvPr>
          <p:cNvSpPr txBox="1"/>
          <p:nvPr/>
        </p:nvSpPr>
        <p:spPr>
          <a:xfrm>
            <a:off x="8065008" y="1319165"/>
            <a:ext cx="2039112" cy="2585323"/>
          </a:xfrm>
          <a:prstGeom prst="rect">
            <a:avLst/>
          </a:prstGeom>
          <a:noFill/>
        </p:spPr>
        <p:txBody>
          <a:bodyPr wrap="square" rtlCol="0">
            <a:spAutoFit/>
          </a:bodyPr>
          <a:lstStyle/>
          <a:p>
            <a:r>
              <a:rPr lang="en-GB" dirty="0"/>
              <a:t>The performance criteria of running for a single list of 3 items in under 15 seconds is hit. This is shown using Power </a:t>
            </a:r>
            <a:r>
              <a:rPr lang="en-GB" dirty="0" err="1"/>
              <a:t>Automate’s</a:t>
            </a:r>
            <a:r>
              <a:rPr lang="en-GB" dirty="0"/>
              <a:t> Test flows.</a:t>
            </a:r>
          </a:p>
        </p:txBody>
      </p:sp>
      <p:sp>
        <p:nvSpPr>
          <p:cNvPr id="7" name="TextBox 6">
            <a:extLst>
              <a:ext uri="{FF2B5EF4-FFF2-40B4-BE49-F238E27FC236}">
                <a16:creationId xmlns:a16="http://schemas.microsoft.com/office/drawing/2014/main" id="{388203C3-FC32-F0C0-93B6-E4937AF6FD60}"/>
              </a:ext>
            </a:extLst>
          </p:cNvPr>
          <p:cNvSpPr txBox="1"/>
          <p:nvPr/>
        </p:nvSpPr>
        <p:spPr>
          <a:xfrm>
            <a:off x="969264" y="1973698"/>
            <a:ext cx="2130552" cy="3416320"/>
          </a:xfrm>
          <a:prstGeom prst="rect">
            <a:avLst/>
          </a:prstGeom>
          <a:noFill/>
        </p:spPr>
        <p:txBody>
          <a:bodyPr wrap="square" rtlCol="0">
            <a:spAutoFit/>
          </a:bodyPr>
          <a:lstStyle/>
          <a:p>
            <a:r>
              <a:rPr lang="en-GB" dirty="0"/>
              <a:t>The 3s time for both posting a message and running through the SharePoint List and posting a card to Teams indicates that the Main Scope’s largest slow downs are probably network related. </a:t>
            </a:r>
          </a:p>
        </p:txBody>
      </p:sp>
      <p:sp>
        <p:nvSpPr>
          <p:cNvPr id="9" name="TextBox 8">
            <a:extLst>
              <a:ext uri="{FF2B5EF4-FFF2-40B4-BE49-F238E27FC236}">
                <a16:creationId xmlns:a16="http://schemas.microsoft.com/office/drawing/2014/main" id="{B508D4E4-19AB-57CC-7F96-627646501B5E}"/>
              </a:ext>
            </a:extLst>
          </p:cNvPr>
          <p:cNvSpPr txBox="1"/>
          <p:nvPr/>
        </p:nvSpPr>
        <p:spPr>
          <a:xfrm>
            <a:off x="8065008" y="3904488"/>
            <a:ext cx="2743200" cy="2862322"/>
          </a:xfrm>
          <a:prstGeom prst="rect">
            <a:avLst/>
          </a:prstGeom>
          <a:noFill/>
        </p:spPr>
        <p:txBody>
          <a:bodyPr wrap="square" rtlCol="0">
            <a:spAutoFit/>
          </a:bodyPr>
          <a:lstStyle/>
          <a:p>
            <a:r>
              <a:rPr lang="en-GB" dirty="0"/>
              <a:t>Therefore, in terms of scaling this is fine as it is unlikely there will be computational slowdown as there will never be millions of decisions to go through, and the 3-hour Monday morning window between 6am-9am could handle it anyway.</a:t>
            </a:r>
          </a:p>
        </p:txBody>
      </p:sp>
    </p:spTree>
    <p:extLst>
      <p:ext uri="{BB962C8B-B14F-4D97-AF65-F5344CB8AC3E}">
        <p14:creationId xmlns:p14="http://schemas.microsoft.com/office/powerpoint/2010/main" val="1320824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BBB5E-8445-BE1D-7A1C-EDEDE700A13E}"/>
              </a:ext>
            </a:extLst>
          </p:cNvPr>
          <p:cNvSpPr>
            <a:spLocks noGrp="1"/>
          </p:cNvSpPr>
          <p:nvPr>
            <p:ph type="title"/>
          </p:nvPr>
        </p:nvSpPr>
        <p:spPr/>
        <p:txBody>
          <a:bodyPr/>
          <a:lstStyle/>
          <a:p>
            <a:pPr algn="ctr"/>
            <a:r>
              <a:rPr lang="en-GB" dirty="0"/>
              <a:t>Show supportability proof</a:t>
            </a:r>
          </a:p>
        </p:txBody>
      </p:sp>
      <p:sp>
        <p:nvSpPr>
          <p:cNvPr id="3" name="Content Placeholder 2">
            <a:extLst>
              <a:ext uri="{FF2B5EF4-FFF2-40B4-BE49-F238E27FC236}">
                <a16:creationId xmlns:a16="http://schemas.microsoft.com/office/drawing/2014/main" id="{335444EE-F651-706F-C057-2B9C978C3687}"/>
              </a:ext>
            </a:extLst>
          </p:cNvPr>
          <p:cNvSpPr>
            <a:spLocks noGrp="1"/>
          </p:cNvSpPr>
          <p:nvPr>
            <p:ph idx="1"/>
          </p:nvPr>
        </p:nvSpPr>
        <p:spPr/>
        <p:txBody>
          <a:bodyPr/>
          <a:lstStyle/>
          <a:p>
            <a:endParaRPr lang="en-GB" dirty="0"/>
          </a:p>
        </p:txBody>
      </p:sp>
      <p:pic>
        <p:nvPicPr>
          <p:cNvPr id="4" name="Content Placeholder 4">
            <a:extLst>
              <a:ext uri="{FF2B5EF4-FFF2-40B4-BE49-F238E27FC236}">
                <a16:creationId xmlns:a16="http://schemas.microsoft.com/office/drawing/2014/main" id="{72A560F0-A370-80FE-DA30-0C3D48AFAAAE}"/>
              </a:ext>
            </a:extLst>
          </p:cNvPr>
          <p:cNvPicPr>
            <a:picLocks noChangeAspect="1"/>
          </p:cNvPicPr>
          <p:nvPr/>
        </p:nvPicPr>
        <p:blipFill>
          <a:blip r:embed="rId2"/>
          <a:stretch>
            <a:fillRect/>
          </a:stretch>
        </p:blipFill>
        <p:spPr>
          <a:xfrm>
            <a:off x="3920331" y="1825625"/>
            <a:ext cx="4351338" cy="4351338"/>
          </a:xfrm>
          <a:prstGeom prst="rect">
            <a:avLst/>
          </a:prstGeom>
        </p:spPr>
      </p:pic>
      <p:sp>
        <p:nvSpPr>
          <p:cNvPr id="5" name="TextBox 4">
            <a:extLst>
              <a:ext uri="{FF2B5EF4-FFF2-40B4-BE49-F238E27FC236}">
                <a16:creationId xmlns:a16="http://schemas.microsoft.com/office/drawing/2014/main" id="{06E42AC7-6ABF-20CA-67D8-871FE0583E9D}"/>
              </a:ext>
            </a:extLst>
          </p:cNvPr>
          <p:cNvSpPr txBox="1"/>
          <p:nvPr/>
        </p:nvSpPr>
        <p:spPr>
          <a:xfrm>
            <a:off x="975360" y="2697480"/>
            <a:ext cx="3432048" cy="1754326"/>
          </a:xfrm>
          <a:prstGeom prst="rect">
            <a:avLst/>
          </a:prstGeom>
          <a:noFill/>
        </p:spPr>
        <p:txBody>
          <a:bodyPr wrap="square" rtlCol="0">
            <a:spAutoFit/>
          </a:bodyPr>
          <a:lstStyle/>
          <a:p>
            <a:r>
              <a:rPr lang="en-GB" dirty="0"/>
              <a:t>Easily supportable by having adding a ‘foreach’ loop to the outside of all the scopes, and parameterising for each particular SharePoint list decision log for each team </a:t>
            </a:r>
          </a:p>
        </p:txBody>
      </p:sp>
      <p:sp>
        <p:nvSpPr>
          <p:cNvPr id="6" name="TextBox 5">
            <a:extLst>
              <a:ext uri="{FF2B5EF4-FFF2-40B4-BE49-F238E27FC236}">
                <a16:creationId xmlns:a16="http://schemas.microsoft.com/office/drawing/2014/main" id="{5385A67A-7EC8-6808-3AEA-18A744858801}"/>
              </a:ext>
            </a:extLst>
          </p:cNvPr>
          <p:cNvSpPr txBox="1"/>
          <p:nvPr/>
        </p:nvSpPr>
        <p:spPr>
          <a:xfrm>
            <a:off x="7854696" y="2414016"/>
            <a:ext cx="2871216" cy="3139321"/>
          </a:xfrm>
          <a:prstGeom prst="rect">
            <a:avLst/>
          </a:prstGeom>
          <a:noFill/>
        </p:spPr>
        <p:txBody>
          <a:bodyPr wrap="square" rtlCol="0">
            <a:spAutoFit/>
          </a:bodyPr>
          <a:lstStyle/>
          <a:p>
            <a:r>
              <a:rPr lang="en-GB" dirty="0"/>
              <a:t>Credential refresh could be a problem, but hopefully the Error Fallback scope would help engineers identify the problem. Otherwise, Azure key vault or managed identities with auto refreshes can be used to refresh credentials, but this requires more setup/ cost</a:t>
            </a:r>
          </a:p>
        </p:txBody>
      </p:sp>
    </p:spTree>
    <p:extLst>
      <p:ext uri="{BB962C8B-B14F-4D97-AF65-F5344CB8AC3E}">
        <p14:creationId xmlns:p14="http://schemas.microsoft.com/office/powerpoint/2010/main" val="1275038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AF69-D4C5-5895-6001-5A6D35161391}"/>
              </a:ext>
            </a:extLst>
          </p:cNvPr>
          <p:cNvSpPr>
            <a:spLocks noGrp="1"/>
          </p:cNvSpPr>
          <p:nvPr>
            <p:ph type="title"/>
          </p:nvPr>
        </p:nvSpPr>
        <p:spPr/>
        <p:txBody>
          <a:bodyPr/>
          <a:lstStyle/>
          <a:p>
            <a:pPr algn="ctr"/>
            <a:r>
              <a:rPr lang="en-GB" dirty="0"/>
              <a:t>How this addresses the problem</a:t>
            </a:r>
          </a:p>
        </p:txBody>
      </p:sp>
      <p:sp>
        <p:nvSpPr>
          <p:cNvPr id="3" name="Content Placeholder 2">
            <a:extLst>
              <a:ext uri="{FF2B5EF4-FFF2-40B4-BE49-F238E27FC236}">
                <a16:creationId xmlns:a16="http://schemas.microsoft.com/office/drawing/2014/main" id="{22B875D1-74E3-C19E-6E9F-B4E3873A73C8}"/>
              </a:ext>
            </a:extLst>
          </p:cNvPr>
          <p:cNvSpPr>
            <a:spLocks noGrp="1"/>
          </p:cNvSpPr>
          <p:nvPr>
            <p:ph idx="1"/>
          </p:nvPr>
        </p:nvSpPr>
        <p:spPr/>
        <p:txBody>
          <a:bodyPr/>
          <a:lstStyle/>
          <a:p>
            <a:r>
              <a:rPr lang="en-GB" dirty="0"/>
              <a:t>This will address the problem of having to review decisions made over 180 days ago by automatically alerting into Teams Channels, and continuing to do so unless reviewed</a:t>
            </a:r>
          </a:p>
          <a:p>
            <a:r>
              <a:rPr lang="en-GB" dirty="0"/>
              <a:t>Automated alerts will keep the amount of work to review decisions under control, instead of letting them pile up</a:t>
            </a:r>
          </a:p>
          <a:p>
            <a:r>
              <a:rPr lang="en-GB" dirty="0"/>
              <a:t>Reduces the amount of manual work in checking, which has become a chore</a:t>
            </a:r>
          </a:p>
        </p:txBody>
      </p:sp>
    </p:spTree>
    <p:extLst>
      <p:ext uri="{BB962C8B-B14F-4D97-AF65-F5344CB8AC3E}">
        <p14:creationId xmlns:p14="http://schemas.microsoft.com/office/powerpoint/2010/main" val="3191827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DBA2B-91E5-E004-E410-FD2C14889965}"/>
              </a:ext>
            </a:extLst>
          </p:cNvPr>
          <p:cNvSpPr>
            <a:spLocks noGrp="1"/>
          </p:cNvSpPr>
          <p:nvPr>
            <p:ph type="title"/>
          </p:nvPr>
        </p:nvSpPr>
        <p:spPr/>
        <p:txBody>
          <a:bodyPr/>
          <a:lstStyle/>
          <a:p>
            <a:r>
              <a:rPr lang="en-GB" dirty="0"/>
              <a:t>How this Addresses Long Term Problems</a:t>
            </a:r>
          </a:p>
        </p:txBody>
      </p:sp>
      <p:sp>
        <p:nvSpPr>
          <p:cNvPr id="3" name="Content Placeholder 2">
            <a:extLst>
              <a:ext uri="{FF2B5EF4-FFF2-40B4-BE49-F238E27FC236}">
                <a16:creationId xmlns:a16="http://schemas.microsoft.com/office/drawing/2014/main" id="{F5F633B1-4E76-B6DE-2821-341ABC7B81BA}"/>
              </a:ext>
            </a:extLst>
          </p:cNvPr>
          <p:cNvSpPr>
            <a:spLocks noGrp="1"/>
          </p:cNvSpPr>
          <p:nvPr>
            <p:ph idx="1"/>
          </p:nvPr>
        </p:nvSpPr>
        <p:spPr/>
        <p:txBody>
          <a:bodyPr/>
          <a:lstStyle/>
          <a:p>
            <a:r>
              <a:rPr lang="en-GB" dirty="0"/>
              <a:t>Prevents our organisation being overtaken by other organisations using more modern technology, using more modern delivery methods or providing more features</a:t>
            </a:r>
          </a:p>
          <a:p>
            <a:r>
              <a:rPr lang="en-GB" dirty="0"/>
              <a:t>Modern delivery: Blockbuster -&gt; Netflix </a:t>
            </a:r>
          </a:p>
          <a:p>
            <a:r>
              <a:rPr lang="en-GB" dirty="0"/>
              <a:t>Modern technology: </a:t>
            </a:r>
            <a:r>
              <a:rPr lang="en-GB" dirty="0" err="1"/>
              <a:t>MySpace</a:t>
            </a:r>
            <a:r>
              <a:rPr lang="en-GB" dirty="0"/>
              <a:t> -&gt; Facebook</a:t>
            </a:r>
          </a:p>
          <a:p>
            <a:r>
              <a:rPr lang="en-GB" dirty="0"/>
              <a:t>Modern features: Kodak -&gt; Canon and Nikon</a:t>
            </a:r>
          </a:p>
        </p:txBody>
      </p:sp>
    </p:spTree>
    <p:extLst>
      <p:ext uri="{BB962C8B-B14F-4D97-AF65-F5344CB8AC3E}">
        <p14:creationId xmlns:p14="http://schemas.microsoft.com/office/powerpoint/2010/main" val="204182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F11D7-99BF-5E57-4BD9-059259756078}"/>
              </a:ext>
            </a:extLst>
          </p:cNvPr>
          <p:cNvSpPr>
            <a:spLocks noGrp="1"/>
          </p:cNvSpPr>
          <p:nvPr>
            <p:ph type="title"/>
          </p:nvPr>
        </p:nvSpPr>
        <p:spPr/>
        <p:txBody>
          <a:bodyPr/>
          <a:lstStyle/>
          <a:p>
            <a:pPr algn="ctr"/>
            <a:r>
              <a:rPr lang="en-GB" dirty="0"/>
              <a:t>Future Implementation</a:t>
            </a:r>
          </a:p>
        </p:txBody>
      </p:sp>
      <p:sp>
        <p:nvSpPr>
          <p:cNvPr id="3" name="Content Placeholder 2">
            <a:extLst>
              <a:ext uri="{FF2B5EF4-FFF2-40B4-BE49-F238E27FC236}">
                <a16:creationId xmlns:a16="http://schemas.microsoft.com/office/drawing/2014/main" id="{F5F69404-548D-1077-114B-B7C6DB6A9D53}"/>
              </a:ext>
            </a:extLst>
          </p:cNvPr>
          <p:cNvSpPr>
            <a:spLocks noGrp="1"/>
          </p:cNvSpPr>
          <p:nvPr>
            <p:ph idx="1"/>
          </p:nvPr>
        </p:nvSpPr>
        <p:spPr/>
        <p:txBody>
          <a:bodyPr/>
          <a:lstStyle/>
          <a:p>
            <a:r>
              <a:rPr lang="en-GB" dirty="0"/>
              <a:t>Currently only implemented on a test Teams Channel and a test SharePoint List</a:t>
            </a:r>
          </a:p>
          <a:p>
            <a:r>
              <a:rPr lang="en-GB" dirty="0"/>
              <a:t>Using iteration in Power Automate, with a list of SharePoint Lists and Teams Channel combinations, the automation solution should be able to be used by multiple teams</a:t>
            </a:r>
          </a:p>
          <a:p>
            <a:r>
              <a:rPr lang="en-GB" dirty="0"/>
              <a:t>The automation solution will need to be run in a production environment, instead of the Personal Productivity environment</a:t>
            </a:r>
          </a:p>
          <a:p>
            <a:r>
              <a:rPr lang="en-GB" dirty="0"/>
              <a:t>Managed identities or key vaults in Azure will probably need to be used for credential refresh</a:t>
            </a:r>
          </a:p>
        </p:txBody>
      </p:sp>
    </p:spTree>
    <p:extLst>
      <p:ext uri="{BB962C8B-B14F-4D97-AF65-F5344CB8AC3E}">
        <p14:creationId xmlns:p14="http://schemas.microsoft.com/office/powerpoint/2010/main" val="270511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2733</TotalTime>
  <Words>1919</Words>
  <Application>Microsoft Office PowerPoint</Application>
  <PresentationFormat>Widescreen</PresentationFormat>
  <Paragraphs>106</Paragraphs>
  <Slides>34</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Aptos</vt:lpstr>
      <vt:lpstr>Aptos Display</vt:lpstr>
      <vt:lpstr>Arial</vt:lpstr>
      <vt:lpstr>Office Theme</vt:lpstr>
      <vt:lpstr>Decision Log Monitor Review</vt:lpstr>
      <vt:lpstr>Decision Logs</vt:lpstr>
      <vt:lpstr>SharePoint List of Decision Logs</vt:lpstr>
      <vt:lpstr>Initial Activity Flow Diagram</vt:lpstr>
      <vt:lpstr>The Problem</vt:lpstr>
      <vt:lpstr>Requirements Gathering - Chief Technical Officer</vt:lpstr>
      <vt:lpstr>Requirements Gathering - Senior Engineer</vt:lpstr>
      <vt:lpstr>Requirements Gathering - Engineer</vt:lpstr>
      <vt:lpstr>Requirements Gathering - Solution Architect</vt:lpstr>
      <vt:lpstr>Requirements Gathering - Solution Engagement Manager</vt:lpstr>
      <vt:lpstr>Requirements Gathered for more consistent Reviewing Of Decision Logs</vt:lpstr>
      <vt:lpstr>Proposed Activity Flow Diagram</vt:lpstr>
      <vt:lpstr>Functionality</vt:lpstr>
      <vt:lpstr>Usability</vt:lpstr>
      <vt:lpstr>Reliability</vt:lpstr>
      <vt:lpstr>Performance</vt:lpstr>
      <vt:lpstr>Supportability</vt:lpstr>
      <vt:lpstr>Platform for Development</vt:lpstr>
      <vt:lpstr>Functionality Reasons for Using Power Platform</vt:lpstr>
      <vt:lpstr>Security Reasons for Using Power Platform</vt:lpstr>
      <vt:lpstr>Cost Reasons for Using Power Platform</vt:lpstr>
      <vt:lpstr>Diagram of Connections</vt:lpstr>
      <vt:lpstr>PowerPoint Presentation</vt:lpstr>
      <vt:lpstr>PowerPoint Presentation</vt:lpstr>
      <vt:lpstr>PowerPoint Presentation</vt:lpstr>
      <vt:lpstr>Show Functionality Proof</vt:lpstr>
      <vt:lpstr>Show Usability Proof</vt:lpstr>
      <vt:lpstr>PowerPoint Presentation</vt:lpstr>
      <vt:lpstr>Show Reliability proof</vt:lpstr>
      <vt:lpstr>Show Performance proof</vt:lpstr>
      <vt:lpstr>Show supportability proof</vt:lpstr>
      <vt:lpstr>How this addresses the problem</vt:lpstr>
      <vt:lpstr>How this Addresses Long Term Problems</vt:lpstr>
      <vt:lpstr>Future Implementation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Carl Gardiner</dc:creator>
  <cp:lastModifiedBy>Carl Gardiner</cp:lastModifiedBy>
  <cp:revision>19</cp:revision>
  <dcterms:created xsi:type="dcterms:W3CDTF">2026-01-08T19:55:06Z</dcterms:created>
  <dcterms:modified xsi:type="dcterms:W3CDTF">2026-01-13T08:59:53Z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cde893e-0867-4da1-b808-8ec67389fdff_Enabled">
    <vt:lpwstr>true</vt:lpwstr>
  </property>
  <property fmtid="{D5CDD505-2E9C-101B-9397-08002B2CF9AE}" pid="3" name="MSIP_Label_3cde893e-0867-4da1-b808-8ec67389fdff_SetDate">
    <vt:lpwstr>2026-01-08T19:55:15Z</vt:lpwstr>
  </property>
  <property fmtid="{D5CDD505-2E9C-101B-9397-08002B2CF9AE}" pid="4" name="MSIP_Label_3cde893e-0867-4da1-b808-8ec67389fdff_Method">
    <vt:lpwstr>Privileged</vt:lpwstr>
  </property>
  <property fmtid="{D5CDD505-2E9C-101B-9397-08002B2CF9AE}" pid="5" name="MSIP_Label_3cde893e-0867-4da1-b808-8ec67389fdff_Name">
    <vt:lpwstr>NON-OS</vt:lpwstr>
  </property>
  <property fmtid="{D5CDD505-2E9C-101B-9397-08002B2CF9AE}" pid="6" name="MSIP_Label_3cde893e-0867-4da1-b808-8ec67389fdff_SiteId">
    <vt:lpwstr>7988742d-c543-4b9a-87a9-10a7b354d289</vt:lpwstr>
  </property>
  <property fmtid="{D5CDD505-2E9C-101B-9397-08002B2CF9AE}" pid="7" name="MSIP_Label_3cde893e-0867-4da1-b808-8ec67389fdff_ActionId">
    <vt:lpwstr>7fcb2d2e-079b-4a5a-83ff-a61e1fd90f2e</vt:lpwstr>
  </property>
  <property fmtid="{D5CDD505-2E9C-101B-9397-08002B2CF9AE}" pid="8" name="MSIP_Label_3cde893e-0867-4da1-b808-8ec67389fdff_ContentBits">
    <vt:lpwstr>0</vt:lpwstr>
  </property>
  <property fmtid="{D5CDD505-2E9C-101B-9397-08002B2CF9AE}" pid="9" name="MSIP_Label_3cde893e-0867-4da1-b808-8ec67389fdff_Tag">
    <vt:lpwstr>10, 0, 1, 1</vt:lpwstr>
  </property>
</Properties>
</file>